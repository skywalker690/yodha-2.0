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8.jpeg" ContentType="image/jpeg"/>
  <Override PartName="/ppt/media/image7.png" ContentType="image/png"/>
  <Override PartName="/ppt/media/image9.png" ContentType="image/png"/>
  <Override PartName="/ppt/media/image10.png" ContentType="image/png"/>
  <Override PartName="/ppt/media/image11.jpeg" ContentType="image/jpeg"/>
  <Override PartName="/ppt/media/image12.png" ContentType="image/png"/>
  <Override PartName="/ppt/media/image13.jpeg" ContentType="image/jpeg"/>
  <Override PartName="/ppt/media/image19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enerated (hc73580055208ec_13_0)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0BE981-1085-4B0D-85FB-CECE9EC9A0C1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b="0" lang="en-IN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72C3EF-049D-4715-A8FC-87285FEA3A71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92BF20-64A4-4A06-ABFE-3C3CE4C5F38A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IN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28C8B4-6D95-44DD-ADD9-50E9C4886309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D98C18-4522-4569-96E1-52AC27F7C377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F3AF5D-07FD-4307-B093-38E52D9EC5EF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4E500F-AD98-4A35-A6F8-EC7FDF071B07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58C85B-9F02-432B-8D70-D9B9AD476543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indent="0">
              <a:buNone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14C7D6-383F-4AB7-A4D8-185FA5AD4C3A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IN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5CD17A-CE48-4AD4-8099-3C720D87E99A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37;p10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IN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007436-4024-4829-99DA-DF81E4ED7C56}" type="slidenum">
              <a:rPr b="0" lang="en-GB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image" Target="../media/image12.png"/><Relationship Id="rId5" Type="http://schemas.openxmlformats.org/officeDocument/2006/relationships/image" Target="../media/image12.png"/><Relationship Id="rId6" Type="http://schemas.openxmlformats.org/officeDocument/2006/relationships/image" Target="../media/image12.png"/><Relationship Id="rId7" Type="http://schemas.openxmlformats.org/officeDocument/2006/relationships/image" Target="../media/image13.jpeg"/><Relationship Id="rId8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8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Relationship Id="rId9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55;p14"/>
          <p:cNvGrpSpPr/>
          <p:nvPr/>
        </p:nvGrpSpPr>
        <p:grpSpPr>
          <a:xfrm>
            <a:off x="0" y="-1719360"/>
            <a:ext cx="9143640" cy="6862680"/>
            <a:chOff x="0" y="-1719360"/>
            <a:chExt cx="9143640" cy="6862680"/>
          </a:xfrm>
        </p:grpSpPr>
        <p:pic>
          <p:nvPicPr>
            <p:cNvPr id="31" name="Google Shape;56;p14" descr="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9143640" cy="5143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2" name="Google Shape;57;p14" descr=""/>
            <p:cNvPicPr/>
            <p:nvPr/>
          </p:nvPicPr>
          <p:blipFill>
            <a:blip r:embed="rId2"/>
            <a:stretch/>
          </p:blipFill>
          <p:spPr>
            <a:xfrm>
              <a:off x="1709640" y="-290520"/>
              <a:ext cx="5724360" cy="5433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" name="Google Shape;58;p14" descr=""/>
            <p:cNvPicPr/>
            <p:nvPr/>
          </p:nvPicPr>
          <p:blipFill>
            <a:blip r:embed="rId3"/>
            <a:stretch/>
          </p:blipFill>
          <p:spPr>
            <a:xfrm>
              <a:off x="281160" y="-1719360"/>
              <a:ext cx="8581680" cy="68623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4" name="Google Shape;59;p14"/>
            <p:cNvGrpSpPr/>
            <p:nvPr/>
          </p:nvGrpSpPr>
          <p:grpSpPr>
            <a:xfrm>
              <a:off x="4381560" y="343080"/>
              <a:ext cx="380520" cy="380520"/>
              <a:chOff x="4381560" y="343080"/>
              <a:chExt cx="380520" cy="380520"/>
            </a:xfrm>
          </p:grpSpPr>
          <p:sp>
            <p:nvSpPr>
              <p:cNvPr id="35" name="Google Shape;60;p14"/>
              <p:cNvSpPr/>
              <p:nvPr/>
            </p:nvSpPr>
            <p:spPr>
              <a:xfrm>
                <a:off x="4381560" y="343080"/>
                <a:ext cx="380520" cy="380520"/>
              </a:xfrm>
              <a:prstGeom prst="ellipse">
                <a:avLst/>
              </a:prstGeom>
              <a:noFill/>
              <a:ln w="19050">
                <a:solidFill>
                  <a:srgbClr val="00b4d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Google Shape;61;p14"/>
              <p:cNvSpPr/>
              <p:nvPr/>
            </p:nvSpPr>
            <p:spPr>
              <a:xfrm>
                <a:off x="4495680" y="419040"/>
                <a:ext cx="151920" cy="1141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114120"/>
                  <a:gd name="textAreaBottom" fmla="*/ 114480 h 114120"/>
                </a:gdLst>
                <a:ahLst/>
                <a:cxnLst/>
                <a:rect l="textAreaLeft" t="textAreaTop" r="textAreaRight" b="textAreaBottom"/>
                <a:pathLst>
                  <a:path w="120000" h="120000">
                    <a:moveTo>
                      <a:pt x="0" y="120000"/>
                    </a:moveTo>
                    <a:quadBezTo>
                      <a:pt x="60000" y="0"/>
                      <a:pt x="120000" y="120000"/>
                    </a:quadBezTo>
                    <a:lnTo>
                      <a:pt x="0" y="1200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Google Shape;62;p14"/>
              <p:cNvSpPr/>
              <p:nvPr/>
            </p:nvSpPr>
            <p:spPr>
              <a:xfrm>
                <a:off x="4467240" y="504720"/>
                <a:ext cx="56880" cy="56880"/>
              </a:xfrm>
              <a:prstGeom prst="ellipse">
                <a:avLst/>
              </a:prstGeom>
              <a:solidFill>
                <a:srgbClr val="00b4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Google Shape;63;p14"/>
              <p:cNvSpPr/>
              <p:nvPr/>
            </p:nvSpPr>
            <p:spPr>
              <a:xfrm>
                <a:off x="4619520" y="504720"/>
                <a:ext cx="56880" cy="56880"/>
              </a:xfrm>
              <a:prstGeom prst="ellipse">
                <a:avLst/>
              </a:prstGeom>
              <a:solidFill>
                <a:srgbClr val="00b4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Google Shape;64;p14"/>
              <p:cNvSpPr/>
              <p:nvPr/>
            </p:nvSpPr>
            <p:spPr>
              <a:xfrm>
                <a:off x="4552920" y="457200"/>
                <a:ext cx="37800" cy="3780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0" name="Google Shape;65;p14"/>
          <p:cNvGrpSpPr/>
          <p:nvPr/>
        </p:nvGrpSpPr>
        <p:grpSpPr>
          <a:xfrm>
            <a:off x="2476440" y="876240"/>
            <a:ext cx="4190760" cy="285480"/>
            <a:chOff x="2476440" y="876240"/>
            <a:chExt cx="4190760" cy="285480"/>
          </a:xfrm>
        </p:grpSpPr>
        <p:sp>
          <p:nvSpPr>
            <p:cNvPr id="41" name="Google Shape;66;p14"/>
            <p:cNvSpPr/>
            <p:nvPr/>
          </p:nvSpPr>
          <p:spPr>
            <a:xfrm>
              <a:off x="2476440" y="876240"/>
              <a:ext cx="4190760" cy="285480"/>
            </a:xfrm>
            <a:prstGeom prst="roundRect">
              <a:avLst>
                <a:gd name="adj" fmla="val 50000"/>
              </a:avLst>
            </a:prstGeom>
            <a:solidFill>
              <a:srgbClr val="1c2541"/>
            </a:solidFill>
            <a:ln w="9525">
              <a:solidFill>
                <a:srgbClr val="00b4d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Google Shape;67;p14"/>
            <p:cNvSpPr/>
            <p:nvPr/>
          </p:nvSpPr>
          <p:spPr>
            <a:xfrm>
              <a:off x="2476440" y="876240"/>
              <a:ext cx="419076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spcAft>
                  <a:spcPts val="300"/>
                </a:spcAft>
                <a:tabLst>
                  <a:tab algn="l" pos="0"/>
                </a:tabLst>
              </a:pPr>
              <a:r>
                <a:rPr b="0" lang="en-GB" sz="1000" strike="noStrike" u="none">
                  <a:solidFill>
                    <a:srgbClr val="00b4d8"/>
                  </a:solidFill>
                  <a:effectLst/>
                  <a:uFillTx/>
                  <a:latin typeface="Roboto Mono Medium"/>
                  <a:ea typeface="Roboto Mono Medium"/>
                </a:rPr>
                <a:t> AI for Healthcare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" name="Google Shape;68;p14"/>
          <p:cNvSpPr/>
          <p:nvPr/>
        </p:nvSpPr>
        <p:spPr>
          <a:xfrm>
            <a:off x="571680" y="1295280"/>
            <a:ext cx="800064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GB" sz="3200" strike="noStrike" u="non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NeuroPredict AI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GB" sz="1600" strike="noStrike" u="none">
                <a:solidFill>
                  <a:srgbClr val="48cae4"/>
                </a:solidFill>
                <a:effectLst/>
                <a:uFillTx/>
                <a:latin typeface="Inter Medium"/>
                <a:ea typeface="Inter Medium"/>
              </a:rPr>
              <a:t>Predicting Alzheimer's Progression from Longitudinal Brain MRI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69;p14"/>
          <p:cNvSpPr/>
          <p:nvPr/>
        </p:nvSpPr>
        <p:spPr>
          <a:xfrm>
            <a:off x="3524400" y="2428920"/>
            <a:ext cx="2095200" cy="1180800"/>
          </a:xfrm>
          <a:prstGeom prst="roundRect">
            <a:avLst>
              <a:gd name="adj" fmla="val 9677"/>
            </a:avLst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70;p14"/>
          <p:cNvSpPr/>
          <p:nvPr/>
        </p:nvSpPr>
        <p:spPr>
          <a:xfrm>
            <a:off x="3524400" y="2428920"/>
            <a:ext cx="2095200" cy="1180800"/>
          </a:xfrm>
          <a:prstGeom prst="roundRect">
            <a:avLst>
              <a:gd name="adj" fmla="val 9677"/>
            </a:avLst>
          </a:prstGeom>
          <a:noFill/>
          <a:ln w="9525">
            <a:solidFill>
              <a:srgbClr val="3a50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6" name="Google Shape;71;p14"/>
          <p:cNvGrpSpPr/>
          <p:nvPr/>
        </p:nvGrpSpPr>
        <p:grpSpPr>
          <a:xfrm>
            <a:off x="476280" y="3857760"/>
            <a:ext cx="8191080" cy="857160"/>
            <a:chOff x="476280" y="3857760"/>
            <a:chExt cx="8191080" cy="857160"/>
          </a:xfrm>
        </p:grpSpPr>
        <p:grpSp>
          <p:nvGrpSpPr>
            <p:cNvPr id="47" name="Google Shape;72;p14"/>
            <p:cNvGrpSpPr/>
            <p:nvPr/>
          </p:nvGrpSpPr>
          <p:grpSpPr>
            <a:xfrm>
              <a:off x="476280" y="3857760"/>
              <a:ext cx="2514240" cy="857160"/>
              <a:chOff x="476280" y="3857760"/>
              <a:chExt cx="2514240" cy="857160"/>
            </a:xfrm>
          </p:grpSpPr>
          <p:sp>
            <p:nvSpPr>
              <p:cNvPr id="48" name="Google Shape;73;p14"/>
              <p:cNvSpPr/>
              <p:nvPr/>
            </p:nvSpPr>
            <p:spPr>
              <a:xfrm>
                <a:off x="476280" y="3857760"/>
                <a:ext cx="2514240" cy="857160"/>
              </a:xfrm>
              <a:prstGeom prst="roundRect">
                <a:avLst>
                  <a:gd name="adj" fmla="val 13333"/>
                </a:avLst>
              </a:prstGeom>
              <a:solidFill>
                <a:srgbClr val="1c2541"/>
              </a:solidFill>
              <a:ln w="9525">
                <a:solidFill>
                  <a:srgbClr val="3a50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Google Shape;74;p14"/>
              <p:cNvSpPr/>
              <p:nvPr/>
            </p:nvSpPr>
            <p:spPr>
              <a:xfrm>
                <a:off x="628560" y="4010040"/>
                <a:ext cx="2209320" cy="552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000" strike="noStrike" u="none">
                    <a:solidFill>
                      <a:srgbClr val="90e0ef"/>
                    </a:solidFill>
                    <a:effectLst/>
                    <a:uFillTx/>
                    <a:latin typeface="Roboto Mono Medium"/>
                    <a:ea typeface="Roboto Mono Medium"/>
                  </a:rPr>
                  <a:t>Team Name</a:t>
                </a:r>
                <a:endParaRPr b="0" lang="en-IN" sz="10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  <a:tabLst>
                    <a:tab algn="l" pos="0"/>
                  </a:tabLst>
                </a:pPr>
                <a:r>
                  <a:rPr b="1" lang="en-GB" sz="160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Zerox</a:t>
                </a:r>
                <a:endParaRPr b="0" lang="en-IN" sz="16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0" name="Google Shape;75;p14"/>
            <p:cNvGrpSpPr/>
            <p:nvPr/>
          </p:nvGrpSpPr>
          <p:grpSpPr>
            <a:xfrm>
              <a:off x="3314880" y="3857760"/>
              <a:ext cx="2514240" cy="857160"/>
              <a:chOff x="3314880" y="3857760"/>
              <a:chExt cx="2514240" cy="857160"/>
            </a:xfrm>
          </p:grpSpPr>
          <p:sp>
            <p:nvSpPr>
              <p:cNvPr id="51" name="Google Shape;76;p14"/>
              <p:cNvSpPr/>
              <p:nvPr/>
            </p:nvSpPr>
            <p:spPr>
              <a:xfrm>
                <a:off x="3314880" y="3857760"/>
                <a:ext cx="2514240" cy="857160"/>
              </a:xfrm>
              <a:prstGeom prst="roundRect">
                <a:avLst>
                  <a:gd name="adj" fmla="val 13333"/>
                </a:avLst>
              </a:prstGeom>
              <a:solidFill>
                <a:srgbClr val="1c2541"/>
              </a:solidFill>
              <a:ln w="9525">
                <a:solidFill>
                  <a:srgbClr val="3a50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Google Shape;77;p14"/>
              <p:cNvSpPr/>
              <p:nvPr/>
            </p:nvSpPr>
            <p:spPr>
              <a:xfrm>
                <a:off x="3467160" y="3952800"/>
                <a:ext cx="2209320" cy="666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839" strike="noStrike" u="none">
                    <a:solidFill>
                      <a:srgbClr val="90e0ef"/>
                    </a:solidFill>
                    <a:effectLst/>
                    <a:uFillTx/>
                    <a:latin typeface="Roboto Mono Medium"/>
                    <a:ea typeface="Roboto Mono Medium"/>
                  </a:rPr>
                  <a:t>Team Members</a:t>
                </a:r>
                <a:endParaRPr b="0" lang="en-IN" sz="839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201"/>
                  </a:spcBef>
                  <a:tabLst>
                    <a:tab algn="l" pos="0"/>
                  </a:tabLst>
                </a:pPr>
                <a:r>
                  <a:rPr b="0" lang="en-GB" sz="790" strike="noStrike" u="none">
                    <a:solidFill>
                      <a:srgbClr val="ffffff"/>
                    </a:solidFill>
                    <a:effectLst/>
                    <a:uFillTx/>
                    <a:latin typeface="Roboto Medium"/>
                    <a:ea typeface="Roboto Medium"/>
                  </a:rPr>
                  <a:t>Steve Sony</a:t>
                </a:r>
                <a:endParaRPr b="0" lang="en-IN" sz="79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790" strike="noStrike" u="none">
                    <a:solidFill>
                      <a:srgbClr val="ffffff"/>
                    </a:solidFill>
                    <a:effectLst/>
                    <a:uFillTx/>
                    <a:latin typeface="Roboto Medium"/>
                    <a:ea typeface="Roboto Medium"/>
                  </a:rPr>
                  <a:t>Roshan Thomas Mathew</a:t>
                </a:r>
                <a:endParaRPr b="0" lang="en-IN" sz="79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790" strike="noStrike" u="none">
                    <a:solidFill>
                      <a:srgbClr val="ffffff"/>
                    </a:solidFill>
                    <a:effectLst/>
                    <a:uFillTx/>
                    <a:latin typeface="Roboto Medium"/>
                    <a:ea typeface="Roboto Medium"/>
                  </a:rPr>
                  <a:t>Sanjo K Siby</a:t>
                </a:r>
                <a:endParaRPr b="0" lang="en-IN" sz="79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790" strike="noStrike" u="none">
                    <a:solidFill>
                      <a:srgbClr val="ffffff"/>
                    </a:solidFill>
                    <a:effectLst/>
                    <a:uFillTx/>
                    <a:latin typeface="Roboto Medium"/>
                    <a:ea typeface="Roboto Medium"/>
                  </a:rPr>
                  <a:t>Vismey Sen</a:t>
                </a:r>
                <a:endParaRPr b="0" lang="en-IN" sz="79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3" name="Google Shape;78;p14"/>
            <p:cNvGrpSpPr/>
            <p:nvPr/>
          </p:nvGrpSpPr>
          <p:grpSpPr>
            <a:xfrm>
              <a:off x="6153120" y="3857760"/>
              <a:ext cx="2514240" cy="857160"/>
              <a:chOff x="6153120" y="3857760"/>
              <a:chExt cx="2514240" cy="857160"/>
            </a:xfrm>
          </p:grpSpPr>
          <p:sp>
            <p:nvSpPr>
              <p:cNvPr id="54" name="Google Shape;79;p14"/>
              <p:cNvSpPr/>
              <p:nvPr/>
            </p:nvSpPr>
            <p:spPr>
              <a:xfrm>
                <a:off x="6153120" y="3857760"/>
                <a:ext cx="2514240" cy="857160"/>
              </a:xfrm>
              <a:prstGeom prst="roundRect">
                <a:avLst>
                  <a:gd name="adj" fmla="val 13333"/>
                </a:avLst>
              </a:prstGeom>
              <a:solidFill>
                <a:srgbClr val="1c2541"/>
              </a:solidFill>
              <a:ln w="9525">
                <a:solidFill>
                  <a:srgbClr val="3a50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Google Shape;80;p14"/>
              <p:cNvSpPr/>
              <p:nvPr/>
            </p:nvSpPr>
            <p:spPr>
              <a:xfrm>
                <a:off x="6305400" y="3952800"/>
                <a:ext cx="2209320" cy="666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839" strike="noStrike" u="none">
                    <a:solidFill>
                      <a:srgbClr val="90e0ef"/>
                    </a:solidFill>
                    <a:effectLst/>
                    <a:uFillTx/>
                    <a:latin typeface="Roboto Mono Medium"/>
                    <a:ea typeface="Roboto Mono Medium"/>
                  </a:rPr>
                  <a:t>College / Institution</a:t>
                </a:r>
                <a:endParaRPr b="0" lang="en-IN" sz="839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201"/>
                  </a:spcBef>
                  <a:tabLst>
                    <a:tab algn="l" pos="0"/>
                  </a:tabLst>
                </a:pPr>
                <a:r>
                  <a:rPr b="0" lang="en-GB" sz="79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IIIT Kottayam</a:t>
                </a:r>
                <a:endParaRPr b="0" lang="en-IN" sz="79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79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College Of Engineering Chengannur</a:t>
                </a:r>
                <a:endParaRPr b="0" lang="en-IN" sz="79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79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Amal Jyothi</a:t>
                </a:r>
                <a:endParaRPr b="0" lang="en-IN" sz="79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79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GEC Barton Hill</a:t>
                </a:r>
                <a:endParaRPr b="0" lang="en-IN" sz="79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85;p15"/>
          <p:cNvGrpSpPr/>
          <p:nvPr/>
        </p:nvGrpSpPr>
        <p:grpSpPr>
          <a:xfrm>
            <a:off x="0" y="0"/>
            <a:ext cx="9144000" cy="5143320"/>
            <a:chOff x="0" y="0"/>
            <a:chExt cx="9144000" cy="5143320"/>
          </a:xfrm>
        </p:grpSpPr>
        <p:sp>
          <p:nvSpPr>
            <p:cNvPr id="57" name="Google Shape;86;p15"/>
            <p:cNvSpPr/>
            <p:nvPr/>
          </p:nvSpPr>
          <p:spPr>
            <a:xfrm>
              <a:off x="0" y="0"/>
              <a:ext cx="3524040" cy="5143320"/>
            </a:xfrm>
            <a:prstGeom prst="rect">
              <a:avLst/>
            </a:prstGeom>
            <a:solidFill>
              <a:srgbClr val="0b13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Google Shape;87;p15"/>
            <p:cNvSpPr/>
            <p:nvPr/>
          </p:nvSpPr>
          <p:spPr>
            <a:xfrm>
              <a:off x="3524400" y="0"/>
              <a:ext cx="5619600" cy="5143320"/>
            </a:xfrm>
            <a:prstGeom prst="rect">
              <a:avLst/>
            </a:prstGeom>
            <a:solidFill>
              <a:srgbClr val="1c254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9" name="Google Shape;88;p15" descr=""/>
            <p:cNvPicPr/>
            <p:nvPr/>
          </p:nvPicPr>
          <p:blipFill>
            <a:blip r:embed="rId1"/>
            <a:stretch/>
          </p:blipFill>
          <p:spPr>
            <a:xfrm>
              <a:off x="3514680" y="0"/>
              <a:ext cx="18720" cy="51433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0" name="Google Shape;89;p15"/>
            <p:cNvGrpSpPr/>
            <p:nvPr/>
          </p:nvGrpSpPr>
          <p:grpSpPr>
            <a:xfrm>
              <a:off x="8677440" y="219240"/>
              <a:ext cx="285480" cy="285480"/>
              <a:chOff x="8677440" y="219240"/>
              <a:chExt cx="285480" cy="285480"/>
            </a:xfrm>
          </p:grpSpPr>
          <p:sp>
            <p:nvSpPr>
              <p:cNvPr id="61" name="Google Shape;90;p15"/>
              <p:cNvSpPr/>
              <p:nvPr/>
            </p:nvSpPr>
            <p:spPr>
              <a:xfrm>
                <a:off x="8677440" y="219240"/>
                <a:ext cx="285480" cy="285480"/>
              </a:xfrm>
              <a:prstGeom prst="ellipse">
                <a:avLst/>
              </a:prstGeom>
              <a:noFill/>
              <a:ln w="19050">
                <a:solidFill>
                  <a:srgbClr val="00b4d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" name="Google Shape;91;p15"/>
              <p:cNvSpPr/>
              <p:nvPr/>
            </p:nvSpPr>
            <p:spPr>
              <a:xfrm>
                <a:off x="8763120" y="276120"/>
                <a:ext cx="114120" cy="8532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120000" h="120000">
                    <a:moveTo>
                      <a:pt x="0" y="120000"/>
                    </a:moveTo>
                    <a:quadBezTo>
                      <a:pt x="60000" y="0"/>
                      <a:pt x="120000" y="120000"/>
                    </a:quadBezTo>
                    <a:lnTo>
                      <a:pt x="0" y="1200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Google Shape;92;p15"/>
              <p:cNvSpPr/>
              <p:nvPr/>
            </p:nvSpPr>
            <p:spPr>
              <a:xfrm>
                <a:off x="8741520" y="340560"/>
                <a:ext cx="42480" cy="42480"/>
              </a:xfrm>
              <a:prstGeom prst="ellipse">
                <a:avLst/>
              </a:prstGeom>
              <a:solidFill>
                <a:srgbClr val="00b4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Google Shape;93;p15"/>
              <p:cNvSpPr/>
              <p:nvPr/>
            </p:nvSpPr>
            <p:spPr>
              <a:xfrm>
                <a:off x="8856000" y="340560"/>
                <a:ext cx="42480" cy="42480"/>
              </a:xfrm>
              <a:prstGeom prst="ellipse">
                <a:avLst/>
              </a:prstGeom>
              <a:solidFill>
                <a:srgbClr val="00b4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Google Shape;94;p15"/>
              <p:cNvSpPr/>
              <p:nvPr/>
            </p:nvSpPr>
            <p:spPr>
              <a:xfrm>
                <a:off x="8805960" y="304920"/>
                <a:ext cx="28080" cy="2808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6" name="Google Shape;95;p15"/>
          <p:cNvGrpSpPr/>
          <p:nvPr/>
        </p:nvGrpSpPr>
        <p:grpSpPr>
          <a:xfrm>
            <a:off x="304920" y="266760"/>
            <a:ext cx="2999880" cy="1047600"/>
            <a:chOff x="304920" y="266760"/>
            <a:chExt cx="2999880" cy="1047600"/>
          </a:xfrm>
        </p:grpSpPr>
        <p:sp>
          <p:nvSpPr>
            <p:cNvPr id="67" name="Google Shape;96;p15"/>
            <p:cNvSpPr/>
            <p:nvPr/>
          </p:nvSpPr>
          <p:spPr>
            <a:xfrm>
              <a:off x="304920" y="266760"/>
              <a:ext cx="2999880" cy="104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-GB" sz="1600" strike="noStrike" u="none">
                  <a:solidFill>
                    <a:srgbClr val="ffffff"/>
                  </a:solidFill>
                  <a:effectLst/>
                  <a:uFillTx/>
                  <a:latin typeface="Inter"/>
                  <a:ea typeface="Inter"/>
                </a:rPr>
                <a:t>Alzheimer's Progression is a Problem of Time, Not Just a Single Snapshot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8" name="Google Shape;97;p15" descr=""/>
            <p:cNvPicPr/>
            <p:nvPr/>
          </p:nvPicPr>
          <p:blipFill>
            <a:blip r:embed="rId2"/>
            <a:stretch/>
          </p:blipFill>
          <p:spPr>
            <a:xfrm>
              <a:off x="304920" y="1266840"/>
              <a:ext cx="2999880" cy="187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9" name="Google Shape;98;p15"/>
          <p:cNvGrpSpPr/>
          <p:nvPr/>
        </p:nvGrpSpPr>
        <p:grpSpPr>
          <a:xfrm>
            <a:off x="304920" y="1380960"/>
            <a:ext cx="2999880" cy="875880"/>
            <a:chOff x="304920" y="1380960"/>
            <a:chExt cx="2999880" cy="875880"/>
          </a:xfrm>
        </p:grpSpPr>
        <p:sp>
          <p:nvSpPr>
            <p:cNvPr id="70" name="Google Shape;99;p15"/>
            <p:cNvSpPr/>
            <p:nvPr/>
          </p:nvSpPr>
          <p:spPr>
            <a:xfrm>
              <a:off x="304920" y="1380960"/>
              <a:ext cx="2999880" cy="875880"/>
            </a:xfrm>
            <a:prstGeom prst="roundRect">
              <a:avLst>
                <a:gd name="adj" fmla="val 10869"/>
              </a:avLst>
            </a:prstGeom>
            <a:solidFill>
              <a:srgbClr val="1c2541"/>
            </a:solidFill>
            <a:ln w="9525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Google Shape;100;p15"/>
            <p:cNvSpPr/>
            <p:nvPr/>
          </p:nvSpPr>
          <p:spPr>
            <a:xfrm>
              <a:off x="457200" y="1495440"/>
              <a:ext cx="2695320" cy="64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020" strike="noStrike" u="none">
                  <a:solidFill>
                    <a:srgbClr val="90e0ef"/>
                  </a:solidFill>
                  <a:effectLst/>
                  <a:uFillTx/>
                  <a:latin typeface="Inter SemiBold"/>
                  <a:ea typeface="Inter SemiBold"/>
                </a:rPr>
                <a:t>Single Snapshot Analysis</a:t>
              </a:r>
              <a:endParaRPr b="0" lang="en-IN" sz="10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0" lang="en-GB" sz="88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Conventional MRI analysis relies on a single snapshot, missing the dynamic nature of disease progression.</a:t>
              </a:r>
              <a:endParaRPr b="0" lang="en-IN" sz="8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2" name="Google Shape;101;p15"/>
          <p:cNvGrpSpPr/>
          <p:nvPr/>
        </p:nvGrpSpPr>
        <p:grpSpPr>
          <a:xfrm>
            <a:off x="304920" y="2371680"/>
            <a:ext cx="2999880" cy="1904760"/>
            <a:chOff x="304920" y="2371680"/>
            <a:chExt cx="2999880" cy="1904760"/>
          </a:xfrm>
        </p:grpSpPr>
        <p:sp>
          <p:nvSpPr>
            <p:cNvPr id="73" name="Google Shape;102;p15"/>
            <p:cNvSpPr/>
            <p:nvPr/>
          </p:nvSpPr>
          <p:spPr>
            <a:xfrm>
              <a:off x="304920" y="2371680"/>
              <a:ext cx="2999880" cy="1904760"/>
            </a:xfrm>
            <a:prstGeom prst="roundRect">
              <a:avLst>
                <a:gd name="adj" fmla="val 5000"/>
              </a:avLst>
            </a:prstGeom>
            <a:solidFill>
              <a:srgbClr val="2a3659"/>
            </a:solidFill>
            <a:ln w="9525">
              <a:solidFill>
                <a:srgbClr val="00b4d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4" name="Google Shape;103;p15"/>
            <p:cNvGrpSpPr/>
            <p:nvPr/>
          </p:nvGrpSpPr>
          <p:grpSpPr>
            <a:xfrm>
              <a:off x="474480" y="2541240"/>
              <a:ext cx="171000" cy="171000"/>
              <a:chOff x="474480" y="2541240"/>
              <a:chExt cx="171000" cy="171000"/>
            </a:xfrm>
          </p:grpSpPr>
          <p:sp>
            <p:nvSpPr>
              <p:cNvPr id="75" name="Google Shape;104;p15"/>
              <p:cNvSpPr/>
              <p:nvPr/>
            </p:nvSpPr>
            <p:spPr>
              <a:xfrm>
                <a:off x="474480" y="2541240"/>
                <a:ext cx="171000" cy="171000"/>
              </a:xfrm>
              <a:prstGeom prst="ellipse">
                <a:avLst/>
              </a:prstGeom>
              <a:noFill/>
              <a:ln cap="rnd" w="19050">
                <a:solidFill>
                  <a:srgbClr val="00b4d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Google Shape;105;p15"/>
              <p:cNvSpPr/>
              <p:nvPr/>
            </p:nvSpPr>
            <p:spPr>
              <a:xfrm>
                <a:off x="560160" y="2575440"/>
                <a:ext cx="33840" cy="68400"/>
              </a:xfrm>
              <a:custGeom>
                <a:avLst/>
                <a:gdLst>
                  <a:gd name="textAreaLeft" fmla="*/ 0 w 33840"/>
                  <a:gd name="textAreaRight" fmla="*/ 34200 w 3384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120000" h="120000">
                    <a:moveTo>
                      <a:pt x="0" y="0"/>
                    </a:moveTo>
                    <a:lnTo>
                      <a:pt x="0" y="90000"/>
                    </a:lnTo>
                    <a:lnTo>
                      <a:pt x="120000" y="120000"/>
                    </a:lnTo>
                  </a:path>
                </a:pathLst>
              </a:custGeom>
              <a:noFill/>
              <a:ln cap="rnd" w="19050">
                <a:solidFill>
                  <a:srgbClr val="00b4d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" name="Google Shape;106;p15"/>
            <p:cNvSpPr/>
            <p:nvPr/>
          </p:nvSpPr>
          <p:spPr>
            <a:xfrm>
              <a:off x="723960" y="2505240"/>
              <a:ext cx="2428560" cy="163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020" strike="noStrike" u="none">
                  <a:solidFill>
                    <a:srgbClr val="00b4d8"/>
                  </a:solidFill>
                  <a:effectLst/>
                  <a:uFillTx/>
                  <a:latin typeface="Inter SemiBold"/>
                  <a:ea typeface="Inter SemiBold"/>
                </a:rPr>
                <a:t>Longitudinal MRI Tracking</a:t>
              </a:r>
              <a:endParaRPr b="0" lang="en-IN" sz="10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0" lang="en-GB" sz="90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Alzheimer's evolves over time, requiring repeated observations to track structural brain changes.</a:t>
              </a:r>
              <a:endPara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01"/>
                </a:spcBef>
                <a:tabLst>
                  <a:tab algn="l" pos="0"/>
                </a:tabLst>
              </a:pPr>
              <a:r>
                <a:rPr b="0" lang="en-GB" sz="90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By utilizing longitudinal datasets, we shift focus from isolated scans to tracking pattern changes across multiple visits.</a:t>
              </a:r>
              <a:endPara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01"/>
                </a:spcBef>
                <a:tabLst>
                  <a:tab algn="l" pos="0"/>
                </a:tabLst>
              </a:pPr>
              <a:r>
                <a:rPr b="0" lang="en-GB" sz="81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Provides clinicians, researchers, and care teams with crucial structural change details for enhanced monitoring.</a:t>
              </a:r>
              <a:endParaRPr b="0" lang="en-IN" sz="81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" name="Google Shape;107;p15"/>
          <p:cNvGrpSpPr/>
          <p:nvPr/>
        </p:nvGrpSpPr>
        <p:grpSpPr>
          <a:xfrm>
            <a:off x="299880" y="4386240"/>
            <a:ext cx="3009600" cy="466560"/>
            <a:chOff x="299880" y="4386240"/>
            <a:chExt cx="3009600" cy="466560"/>
          </a:xfrm>
        </p:grpSpPr>
        <p:pic>
          <p:nvPicPr>
            <p:cNvPr id="79" name="Google Shape;108;p15" descr=""/>
            <p:cNvPicPr/>
            <p:nvPr/>
          </p:nvPicPr>
          <p:blipFill>
            <a:blip r:embed="rId3"/>
            <a:stretch/>
          </p:blipFill>
          <p:spPr>
            <a:xfrm>
              <a:off x="299880" y="4386240"/>
              <a:ext cx="3009600" cy="4665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0" name="Google Shape;109;p15"/>
            <p:cNvSpPr/>
            <p:nvPr/>
          </p:nvSpPr>
          <p:spPr>
            <a:xfrm>
              <a:off x="419040" y="4467240"/>
              <a:ext cx="2771280" cy="30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-GB" sz="85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Note:</a:t>
              </a:r>
              <a:r>
                <a:rPr b="0" lang="en-GB" sz="85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 This tool analyzes structural patterns and does not replace clinical diagnosis.</a:t>
              </a:r>
              <a:endParaRPr b="0" lang="en-IN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Google Shape;110;p15"/>
          <p:cNvSpPr/>
          <p:nvPr/>
        </p:nvSpPr>
        <p:spPr>
          <a:xfrm>
            <a:off x="3790800" y="266760"/>
            <a:ext cx="4667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GB" sz="900" strike="noStrike" u="none">
                <a:solidFill>
                  <a:srgbClr val="90e0ef"/>
                </a:solidFill>
                <a:effectLst/>
                <a:uFillTx/>
                <a:latin typeface="Roboto Mono Medium"/>
                <a:ea typeface="Roboto Mono Medium"/>
              </a:rPr>
              <a:t>Multi-Visit Sequence Visualization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Google Shape;111;p15" descr=""/>
          <p:cNvPicPr/>
          <p:nvPr/>
        </p:nvPicPr>
        <p:blipFill>
          <a:blip r:embed="rId4"/>
          <a:stretch/>
        </p:blipFill>
        <p:spPr>
          <a:xfrm>
            <a:off x="3790800" y="523800"/>
            <a:ext cx="5047920" cy="37861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3" name="Google Shape;112;p15"/>
          <p:cNvGrpSpPr/>
          <p:nvPr/>
        </p:nvGrpSpPr>
        <p:grpSpPr>
          <a:xfrm>
            <a:off x="3790800" y="4419720"/>
            <a:ext cx="5047920" cy="428400"/>
            <a:chOff x="3790800" y="4419720"/>
            <a:chExt cx="5047920" cy="428400"/>
          </a:xfrm>
        </p:grpSpPr>
        <p:sp>
          <p:nvSpPr>
            <p:cNvPr id="84" name="Google Shape;113;p15"/>
            <p:cNvSpPr/>
            <p:nvPr/>
          </p:nvSpPr>
          <p:spPr>
            <a:xfrm>
              <a:off x="3790800" y="4419720"/>
              <a:ext cx="5047920" cy="428400"/>
            </a:xfrm>
            <a:prstGeom prst="roundRect">
              <a:avLst>
                <a:gd name="adj" fmla="val 17777"/>
              </a:avLst>
            </a:prstGeom>
            <a:solidFill>
              <a:srgbClr val="0b132b"/>
            </a:solidFill>
            <a:ln w="9525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" name="Google Shape;114;p15"/>
            <p:cNvGrpSpPr/>
            <p:nvPr/>
          </p:nvGrpSpPr>
          <p:grpSpPr>
            <a:xfrm>
              <a:off x="3925440" y="4495680"/>
              <a:ext cx="153720" cy="208080"/>
              <a:chOff x="3925440" y="4495680"/>
              <a:chExt cx="153720" cy="208080"/>
            </a:xfrm>
          </p:grpSpPr>
          <p:sp>
            <p:nvSpPr>
              <p:cNvPr id="86" name="Google Shape;115;p15"/>
              <p:cNvSpPr/>
              <p:nvPr/>
            </p:nvSpPr>
            <p:spPr>
              <a:xfrm>
                <a:off x="3966120" y="4495680"/>
                <a:ext cx="72720" cy="132840"/>
              </a:xfrm>
              <a:custGeom>
                <a:avLst/>
                <a:gdLst>
                  <a:gd name="textAreaLeft" fmla="*/ 0 w 72720"/>
                  <a:gd name="textAreaRight" fmla="*/ 73080 w 72720"/>
                  <a:gd name="textAreaTop" fmla="*/ 0 h 132840"/>
                  <a:gd name="textAreaBottom" fmla="*/ 133200 h 132840"/>
                </a:gdLst>
                <a:ahLst/>
                <a:cxnLst/>
                <a:rect l="textAreaLeft" t="textAreaTop" r="textAreaRight" b="textAreaBottom"/>
                <a:pathLst>
                  <a:path w="120000" h="120000">
                    <a:moveTo>
                      <a:pt x="26667" y="60000"/>
                    </a:moveTo>
                    <a:cubicBezTo>
                      <a:pt x="4692" y="51983"/>
                      <a:pt x="-5088" y="37060"/>
                      <a:pt x="2584" y="23251"/>
                    </a:cubicBezTo>
                    <a:cubicBezTo>
                      <a:pt x="10255" y="9442"/>
                      <a:pt x="33572" y="0"/>
                      <a:pt x="60000" y="0"/>
                    </a:cubicBezTo>
                    <a:cubicBezTo>
                      <a:pt x="86429" y="0"/>
                      <a:pt x="109745" y="9442"/>
                      <a:pt x="117417" y="23251"/>
                    </a:cubicBezTo>
                    <a:cubicBezTo>
                      <a:pt x="125088" y="37060"/>
                      <a:pt x="115308" y="51983"/>
                      <a:pt x="93333" y="60000"/>
                    </a:cubicBezTo>
                    <a:cubicBezTo>
                      <a:pt x="115308" y="68017"/>
                      <a:pt x="125088" y="82940"/>
                      <a:pt x="117416" y="96749"/>
                    </a:cubicBezTo>
                    <a:cubicBezTo>
                      <a:pt x="109745" y="110558"/>
                      <a:pt x="86429" y="120000"/>
                      <a:pt x="60000" y="120000"/>
                    </a:cubicBezTo>
                    <a:cubicBezTo>
                      <a:pt x="33571" y="120000"/>
                      <a:pt x="10255" y="110558"/>
                      <a:pt x="2583" y="96749"/>
                    </a:cubicBezTo>
                    <a:cubicBezTo>
                      <a:pt x="-5088" y="82940"/>
                      <a:pt x="4692" y="68017"/>
                      <a:pt x="26667" y="60000"/>
                    </a:cubicBezTo>
                    <a:close/>
                  </a:path>
                </a:pathLst>
              </a:custGeom>
              <a:noFill/>
              <a:ln cap="rnd" w="19050">
                <a:solidFill>
                  <a:srgbClr val="00b4d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Google Shape;116;p15"/>
              <p:cNvSpPr/>
              <p:nvPr/>
            </p:nvSpPr>
            <p:spPr>
              <a:xfrm>
                <a:off x="4002480" y="4598640"/>
                <a:ext cx="360" cy="105120"/>
              </a:xfrm>
              <a:custGeom>
                <a:avLst/>
                <a:gdLst>
                  <a:gd name="textAreaLeft" fmla="*/ 0 w 360"/>
                  <a:gd name="textAreaRight" fmla="*/ 720 w 360"/>
                  <a:gd name="textAreaTop" fmla="*/ 0 h 105120"/>
                  <a:gd name="textAreaBottom" fmla="*/ 105480 h 105120"/>
                </a:gdLst>
                <a:ahLst/>
                <a:cxnLst/>
                <a:rect l="textAreaLeft" t="textAreaTop" r="textAreaRight" b="textAreaBottom"/>
                <a:pathLst>
                  <a:path w="120000" h="120000">
                    <a:moveTo>
                      <a:pt x="0" y="0"/>
                    </a:moveTo>
                    <a:lnTo>
                      <a:pt x="0" y="120000"/>
                    </a:lnTo>
                  </a:path>
                </a:pathLst>
              </a:custGeom>
              <a:noFill/>
              <a:ln cap="rnd" w="19050">
                <a:solidFill>
                  <a:srgbClr val="00b4d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Google Shape;117;p15"/>
              <p:cNvSpPr/>
              <p:nvPr/>
            </p:nvSpPr>
            <p:spPr>
              <a:xfrm>
                <a:off x="3925440" y="4576320"/>
                <a:ext cx="72720" cy="66600"/>
              </a:xfrm>
              <a:custGeom>
                <a:avLst/>
                <a:gdLst>
                  <a:gd name="textAreaLeft" fmla="*/ 0 w 72720"/>
                  <a:gd name="textAreaRight" fmla="*/ 73080 w 72720"/>
                  <a:gd name="textAreaTop" fmla="*/ 0 h 66600"/>
                  <a:gd name="textAreaBottom" fmla="*/ 66960 h 66600"/>
                </a:gdLst>
                <a:ahLst/>
                <a:cxnLst/>
                <a:rect l="textAreaLeft" t="textAreaTop" r="textAreaRight" b="textAreaBottom"/>
                <a:pathLst>
                  <a:path w="120000" h="120000">
                    <a:moveTo>
                      <a:pt x="93333" y="120000"/>
                    </a:moveTo>
                    <a:cubicBezTo>
                      <a:pt x="115308" y="103966"/>
                      <a:pt x="125088" y="74119"/>
                      <a:pt x="117416" y="46502"/>
                    </a:cubicBezTo>
                    <a:cubicBezTo>
                      <a:pt x="109745" y="18884"/>
                      <a:pt x="86429" y="0"/>
                      <a:pt x="60000" y="0"/>
                    </a:cubicBezTo>
                    <a:cubicBezTo>
                      <a:pt x="33571" y="0"/>
                      <a:pt x="10255" y="18884"/>
                      <a:pt x="2583" y="46502"/>
                    </a:cubicBezTo>
                    <a:cubicBezTo>
                      <a:pt x="-5088" y="74119"/>
                      <a:pt x="4692" y="103966"/>
                      <a:pt x="26667" y="120000"/>
                    </a:cubicBezTo>
                  </a:path>
                </a:pathLst>
              </a:custGeom>
              <a:noFill/>
              <a:ln cap="rnd" w="19050">
                <a:solidFill>
                  <a:srgbClr val="00b4d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Google Shape;118;p15"/>
              <p:cNvSpPr/>
              <p:nvPr/>
            </p:nvSpPr>
            <p:spPr>
              <a:xfrm>
                <a:off x="4006440" y="4576320"/>
                <a:ext cx="72720" cy="66600"/>
              </a:xfrm>
              <a:custGeom>
                <a:avLst/>
                <a:gdLst>
                  <a:gd name="textAreaLeft" fmla="*/ 0 w 72720"/>
                  <a:gd name="textAreaRight" fmla="*/ 73080 w 72720"/>
                  <a:gd name="textAreaTop" fmla="*/ 0 h 66600"/>
                  <a:gd name="textAreaBottom" fmla="*/ 66960 h 66600"/>
                </a:gdLst>
                <a:ahLst/>
                <a:cxnLst/>
                <a:rect l="textAreaLeft" t="textAreaTop" r="textAreaRight" b="textAreaBottom"/>
                <a:pathLst>
                  <a:path w="120000" h="120000">
                    <a:moveTo>
                      <a:pt x="26667" y="120000"/>
                    </a:moveTo>
                    <a:cubicBezTo>
                      <a:pt x="4692" y="103966"/>
                      <a:pt x="-5088" y="74119"/>
                      <a:pt x="2584" y="46502"/>
                    </a:cubicBezTo>
                    <a:cubicBezTo>
                      <a:pt x="10255" y="18884"/>
                      <a:pt x="33572" y="0"/>
                      <a:pt x="60000" y="0"/>
                    </a:cubicBezTo>
                    <a:cubicBezTo>
                      <a:pt x="86429" y="0"/>
                      <a:pt x="109745" y="18884"/>
                      <a:pt x="117417" y="46502"/>
                    </a:cubicBezTo>
                    <a:cubicBezTo>
                      <a:pt x="125088" y="74119"/>
                      <a:pt x="115308" y="103966"/>
                      <a:pt x="93333" y="120000"/>
                    </a:cubicBezTo>
                  </a:path>
                </a:pathLst>
              </a:custGeom>
              <a:noFill/>
              <a:ln cap="rnd" w="19050">
                <a:solidFill>
                  <a:srgbClr val="00b4d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0" name="Google Shape;119;p15"/>
            <p:cNvSpPr/>
            <p:nvPr/>
          </p:nvSpPr>
          <p:spPr>
            <a:xfrm>
              <a:off x="4152960" y="4495680"/>
              <a:ext cx="45716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-GB" sz="90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Sequential MRI Observation:</a:t>
              </a:r>
              <a:r>
                <a:rPr b="0" lang="en-GB" sz="90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 Quantifying ventricular expansion, atrophy area mapping, and cortical thickness change across Month 0, Month 3, and Month 6.</a:t>
              </a:r>
              <a:endPara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124;p16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2" name="Google Shape;125;p16"/>
          <p:cNvGrpSpPr/>
          <p:nvPr/>
        </p:nvGrpSpPr>
        <p:grpSpPr>
          <a:xfrm>
            <a:off x="8412480" y="259200"/>
            <a:ext cx="304560" cy="304560"/>
            <a:chOff x="8412480" y="259200"/>
            <a:chExt cx="304560" cy="304560"/>
          </a:xfrm>
        </p:grpSpPr>
        <p:sp>
          <p:nvSpPr>
            <p:cNvPr id="93" name="Google Shape;126;p16"/>
            <p:cNvSpPr/>
            <p:nvPr/>
          </p:nvSpPr>
          <p:spPr>
            <a:xfrm>
              <a:off x="8412480" y="259200"/>
              <a:ext cx="304560" cy="304560"/>
            </a:xfrm>
            <a:prstGeom prst="ellipse">
              <a:avLst/>
            </a:prstGeom>
            <a:noFill/>
            <a:ln w="19050">
              <a:solidFill>
                <a:srgbClr val="00b4d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Google Shape;127;p16"/>
            <p:cNvSpPr/>
            <p:nvPr/>
          </p:nvSpPr>
          <p:spPr>
            <a:xfrm>
              <a:off x="8503920" y="320040"/>
              <a:ext cx="121680" cy="91080"/>
            </a:xfrm>
            <a:custGeom>
              <a:avLst/>
              <a:gdLst>
                <a:gd name="textAreaLeft" fmla="*/ 0 w 121680"/>
                <a:gd name="textAreaRight" fmla="*/ 122040 w 121680"/>
                <a:gd name="textAreaTop" fmla="*/ 0 h 91080"/>
                <a:gd name="textAreaBottom" fmla="*/ 91440 h 91080"/>
              </a:gdLst>
              <a:ahLst/>
              <a:cxnLst/>
              <a:rect l="textAreaLeft" t="textAreaTop" r="textAreaRight" b="textAreaBottom"/>
              <a:pathLst>
                <a:path w="120000" h="120000">
                  <a:moveTo>
                    <a:pt x="0" y="120000"/>
                  </a:moveTo>
                  <a:quadBezTo>
                    <a:pt x="60000" y="0"/>
                    <a:pt x="120000" y="120000"/>
                  </a:quadBezTo>
                  <a:lnTo>
                    <a:pt x="0" y="120000"/>
                  </a:lnTo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Google Shape;128;p16"/>
            <p:cNvSpPr/>
            <p:nvPr/>
          </p:nvSpPr>
          <p:spPr>
            <a:xfrm>
              <a:off x="8481240" y="388800"/>
              <a:ext cx="45360" cy="45360"/>
            </a:xfrm>
            <a:prstGeom prst="ellipse">
              <a:avLst/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Google Shape;129;p16"/>
            <p:cNvSpPr/>
            <p:nvPr/>
          </p:nvSpPr>
          <p:spPr>
            <a:xfrm>
              <a:off x="8602920" y="388800"/>
              <a:ext cx="45360" cy="45360"/>
            </a:xfrm>
            <a:prstGeom prst="ellipse">
              <a:avLst/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Google Shape;130;p16"/>
            <p:cNvSpPr/>
            <p:nvPr/>
          </p:nvSpPr>
          <p:spPr>
            <a:xfrm>
              <a:off x="8549640" y="350640"/>
              <a:ext cx="30240" cy="302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98" name="Google Shape;131;p16" descr=""/>
          <p:cNvPicPr/>
          <p:nvPr/>
        </p:nvPicPr>
        <p:blipFill>
          <a:blip r:embed="rId2"/>
          <a:stretch/>
        </p:blipFill>
        <p:spPr>
          <a:xfrm>
            <a:off x="380880" y="762120"/>
            <a:ext cx="8381520" cy="1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Google Shape;132;p16"/>
          <p:cNvSpPr/>
          <p:nvPr/>
        </p:nvSpPr>
        <p:spPr>
          <a:xfrm>
            <a:off x="380880" y="152280"/>
            <a:ext cx="78102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200" strike="noStrike" u="non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NeuroPredict AI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GB" sz="1300" strike="noStrike" u="none">
                <a:solidFill>
                  <a:srgbClr val="00b4d8"/>
                </a:solidFill>
                <a:effectLst/>
                <a:uFillTx/>
                <a:latin typeface="Inter Medium"/>
                <a:ea typeface="Inter Medium"/>
              </a:rPr>
              <a:t>Mapping MRI Snapshots to an Explainable Progression Trajectory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0" name="Google Shape;133;p16"/>
          <p:cNvGrpSpPr/>
          <p:nvPr/>
        </p:nvGrpSpPr>
        <p:grpSpPr>
          <a:xfrm>
            <a:off x="380880" y="914400"/>
            <a:ext cx="4047840" cy="3952440"/>
            <a:chOff x="380880" y="914400"/>
            <a:chExt cx="4047840" cy="3952440"/>
          </a:xfrm>
        </p:grpSpPr>
        <p:sp>
          <p:nvSpPr>
            <p:cNvPr id="101" name="Google Shape;134;p16"/>
            <p:cNvSpPr/>
            <p:nvPr/>
          </p:nvSpPr>
          <p:spPr>
            <a:xfrm>
              <a:off x="380880" y="914400"/>
              <a:ext cx="4047840" cy="3952440"/>
            </a:xfrm>
            <a:prstGeom prst="roundRect">
              <a:avLst>
                <a:gd name="adj" fmla="val 2891"/>
              </a:avLst>
            </a:prstGeom>
            <a:solidFill>
              <a:srgbClr val="1c2541"/>
            </a:solidFill>
            <a:ln w="9525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Google Shape;135;p16"/>
            <p:cNvSpPr/>
            <p:nvPr/>
          </p:nvSpPr>
          <p:spPr>
            <a:xfrm>
              <a:off x="571680" y="1066680"/>
              <a:ext cx="3666960" cy="3647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92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SYSTEM ARCHITECTURE</a:t>
              </a:r>
              <a:endParaRPr b="0" lang="en-IN" sz="9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0" lang="en-GB" sz="1390" strike="noStrike" u="none">
                  <a:solidFill>
                    <a:srgbClr val="00b4d8"/>
                  </a:solidFill>
                  <a:effectLst/>
                  <a:uFillTx/>
                  <a:latin typeface="Inter SemiBold"/>
                  <a:ea typeface="Inter SemiBold"/>
                </a:rPr>
                <a:t>Solution Pipeline &amp; Modeling</a:t>
              </a:r>
              <a:endParaRPr b="0" lang="en-IN" sz="139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901"/>
                </a:spcBef>
                <a:tabLst>
                  <a:tab algn="l" pos="0"/>
                </a:tabLst>
              </a:pPr>
              <a:r>
                <a:rPr b="1" lang="en-GB" sz="102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Multiple MRI Snapshot Processing</a:t>
              </a:r>
              <a:endParaRPr b="0" lang="en-IN" sz="10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293040">
                <a:lnSpc>
                  <a:spcPct val="100000"/>
                </a:lnSpc>
                <a:spcBef>
                  <a:spcPts val="150"/>
                </a:spcBef>
                <a:buClr>
                  <a:srgbClr val="ffffff"/>
                </a:buClr>
                <a:buFont typeface="Roboto"/>
                <a:buChar char="●"/>
                <a:tabLst>
                  <a:tab algn="l" pos="0"/>
                </a:tabLst>
              </a:pPr>
              <a:r>
                <a:rPr b="0" lang="en-GB" sz="97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Ingests longitudinal scan sequences from a single subject across distinct time points.</a:t>
              </a:r>
              <a:endParaRPr b="0" lang="en-IN" sz="9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1" lang="en-GB" sz="102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Brain Representation Extraction</a:t>
              </a:r>
              <a:endParaRPr b="0" lang="en-IN" sz="10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293040">
                <a:lnSpc>
                  <a:spcPct val="100000"/>
                </a:lnSpc>
                <a:spcBef>
                  <a:spcPts val="150"/>
                </a:spcBef>
                <a:buClr>
                  <a:srgbClr val="ffffff"/>
                </a:buClr>
                <a:buFont typeface="Roboto"/>
                <a:buChar char="●"/>
                <a:tabLst>
                  <a:tab algn="l" pos="0"/>
                </a:tabLst>
              </a:pPr>
              <a:r>
                <a:rPr b="0" lang="en-GB" sz="97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Extracts high-dimensional anatomical features and isolates subtle structural changes.</a:t>
              </a:r>
              <a:endParaRPr b="0" lang="en-IN" sz="9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1" lang="en-GB" sz="102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Longitudinal Feature Comparison</a:t>
              </a:r>
              <a:endParaRPr b="0" lang="en-IN" sz="10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293040">
                <a:lnSpc>
                  <a:spcPct val="100000"/>
                </a:lnSpc>
                <a:spcBef>
                  <a:spcPts val="150"/>
                </a:spcBef>
                <a:buClr>
                  <a:srgbClr val="ffffff"/>
                </a:buClr>
                <a:buFont typeface="Roboto"/>
                <a:buChar char="●"/>
                <a:tabLst>
                  <a:tab algn="l" pos="0"/>
                </a:tabLst>
              </a:pPr>
              <a:r>
                <a:rPr b="0" lang="en-GB" sz="97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Compares visit-to-visit variations to identify disease progression dynamics.</a:t>
              </a:r>
              <a:endParaRPr b="0" lang="en-IN" sz="9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1" lang="en-GB" sz="102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Temporal AI Risk Estimation</a:t>
              </a:r>
              <a:endParaRPr b="0" lang="en-IN" sz="10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293040">
                <a:lnSpc>
                  <a:spcPct val="100000"/>
                </a:lnSpc>
                <a:spcBef>
                  <a:spcPts val="150"/>
                </a:spcBef>
                <a:buClr>
                  <a:srgbClr val="ffffff"/>
                </a:buClr>
                <a:buFont typeface="Roboto"/>
                <a:buChar char="●"/>
                <a:tabLst>
                  <a:tab algn="l" pos="0"/>
                </a:tabLst>
              </a:pPr>
              <a:r>
                <a:rPr b="0" lang="en-GB" sz="97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Learns temporal sequence patterns to forecast disease trajectory over time.</a:t>
              </a:r>
              <a:endParaRPr b="0" lang="en-IN" sz="9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1" lang="en-GB" sz="102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Clinical Decision Support</a:t>
              </a:r>
              <a:endParaRPr b="0" lang="en-IN" sz="10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293040">
                <a:lnSpc>
                  <a:spcPct val="100000"/>
                </a:lnSpc>
                <a:spcBef>
                  <a:spcPts val="150"/>
                </a:spcBef>
                <a:spcAft>
                  <a:spcPts val="601"/>
                </a:spcAft>
                <a:buClr>
                  <a:srgbClr val="ffffff"/>
                </a:buClr>
                <a:buFont typeface="Roboto"/>
                <a:buChar char="●"/>
                <a:tabLst>
                  <a:tab algn="l" pos="0"/>
                </a:tabLst>
              </a:pPr>
              <a:r>
                <a:rPr b="0" lang="en-GB" sz="97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Serves as an interactive tool to track structural evolution rather than an autonomous diagnostic system.</a:t>
              </a:r>
              <a:endParaRPr b="0" lang="en-IN" sz="9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3" name="Google Shape;136;p16"/>
          <p:cNvGrpSpPr/>
          <p:nvPr/>
        </p:nvGrpSpPr>
        <p:grpSpPr>
          <a:xfrm>
            <a:off x="4619520" y="914400"/>
            <a:ext cx="4142880" cy="3952440"/>
            <a:chOff x="4619520" y="914400"/>
            <a:chExt cx="4142880" cy="3952440"/>
          </a:xfrm>
        </p:grpSpPr>
        <p:sp>
          <p:nvSpPr>
            <p:cNvPr id="104" name="Google Shape;137;p16"/>
            <p:cNvSpPr/>
            <p:nvPr/>
          </p:nvSpPr>
          <p:spPr>
            <a:xfrm>
              <a:off x="4619520" y="914400"/>
              <a:ext cx="4142880" cy="3952440"/>
            </a:xfrm>
            <a:prstGeom prst="roundRect">
              <a:avLst>
                <a:gd name="adj" fmla="val 2891"/>
              </a:avLst>
            </a:prstGeom>
            <a:solidFill>
              <a:srgbClr val="1c2541"/>
            </a:solidFill>
            <a:ln w="9525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Google Shape;138;p16"/>
            <p:cNvSpPr/>
            <p:nvPr/>
          </p:nvSpPr>
          <p:spPr>
            <a:xfrm>
              <a:off x="4809960" y="1066680"/>
              <a:ext cx="3762000" cy="185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77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CLINICAL OUTPUTS</a:t>
              </a:r>
              <a:endParaRPr b="0" lang="en-IN" sz="7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0" lang="en-GB" sz="1170" strike="noStrike" u="none">
                  <a:solidFill>
                    <a:srgbClr val="00b4d8"/>
                  </a:solidFill>
                  <a:effectLst/>
                  <a:uFillTx/>
                  <a:latin typeface="Inter SemiBold"/>
                  <a:ea typeface="Inter SemiBold"/>
                </a:rPr>
                <a:t>Explainable Progression Metrics</a:t>
              </a:r>
              <a:endParaRPr b="0" lang="en-IN" sz="11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901"/>
                </a:spcBef>
                <a:tabLst>
                  <a:tab algn="l" pos="0"/>
                </a:tabLst>
              </a:pPr>
              <a:r>
                <a:rPr b="1" lang="en-GB" sz="86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Longitudinal Risk Trend Line</a:t>
              </a:r>
              <a:endParaRPr b="0" lang="en-IN" sz="86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282600">
                <a:lnSpc>
                  <a:spcPct val="100000"/>
                </a:lnSpc>
                <a:spcBef>
                  <a:spcPts val="150"/>
                </a:spcBef>
                <a:buClr>
                  <a:srgbClr val="ffffff"/>
                </a:buClr>
                <a:buFont typeface="Roboto"/>
                <a:buChar char="●"/>
                <a:tabLst>
                  <a:tab algn="l" pos="0"/>
                </a:tabLst>
              </a:pPr>
              <a:r>
                <a:rPr b="0" lang="en-GB" sz="82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Replaces static binary classification with a continuous temporal progression curve.</a:t>
              </a:r>
              <a:endParaRPr b="0" lang="en-IN" sz="8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01"/>
                </a:spcBef>
                <a:tabLst>
                  <a:tab algn="l" pos="0"/>
                </a:tabLst>
              </a:pPr>
              <a:r>
                <a:rPr b="1" lang="en-GB" sz="86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Explainability &amp; Feature Attribution Maps</a:t>
              </a:r>
              <a:endParaRPr b="0" lang="en-IN" sz="86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282600">
                <a:lnSpc>
                  <a:spcPct val="100000"/>
                </a:lnSpc>
                <a:spcBef>
                  <a:spcPts val="150"/>
                </a:spcBef>
                <a:buClr>
                  <a:srgbClr val="ffffff"/>
                </a:buClr>
                <a:buFont typeface="Roboto"/>
                <a:buChar char="●"/>
                <a:tabLst>
                  <a:tab algn="l" pos="0"/>
                </a:tabLst>
              </a:pPr>
              <a:r>
                <a:rPr b="0" lang="en-GB" sz="82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Provides visual highlight overlays pinpointing regions driving the progression risk.</a:t>
              </a:r>
              <a:endParaRPr b="0" lang="en-IN" sz="8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01"/>
                </a:spcBef>
                <a:tabLst>
                  <a:tab algn="l" pos="0"/>
                </a:tabLst>
              </a:pPr>
              <a:r>
                <a:rPr b="1" lang="en-GB" sz="86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Visit-to-Visit Structural Comparisons</a:t>
              </a:r>
              <a:endParaRPr b="0" lang="en-IN" sz="86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282600">
                <a:lnSpc>
                  <a:spcPct val="100000"/>
                </a:lnSpc>
                <a:spcBef>
                  <a:spcPts val="150"/>
                </a:spcBef>
                <a:spcAft>
                  <a:spcPts val="601"/>
                </a:spcAft>
                <a:buClr>
                  <a:srgbClr val="ffffff"/>
                </a:buClr>
                <a:buFont typeface="Roboto"/>
                <a:buChar char="●"/>
                <a:tabLst>
                  <a:tab algn="l" pos="0"/>
                </a:tabLst>
              </a:pPr>
              <a:r>
                <a:rPr b="0" lang="en-GB" sz="82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Quantifies chronological volume change and biomarker shift across scans.</a:t>
              </a:r>
              <a:endParaRPr b="0" lang="en-IN" sz="8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6" name="Google Shape;139;p16" descr=""/>
            <p:cNvPicPr/>
            <p:nvPr/>
          </p:nvPicPr>
          <p:blipFill>
            <a:blip r:embed="rId3"/>
            <a:stretch/>
          </p:blipFill>
          <p:spPr>
            <a:xfrm>
              <a:off x="5762520" y="2971800"/>
              <a:ext cx="1761840" cy="1761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7" name="Google Shape;140;p16"/>
            <p:cNvSpPr/>
            <p:nvPr/>
          </p:nvSpPr>
          <p:spPr>
            <a:xfrm>
              <a:off x="4809960" y="3000240"/>
              <a:ext cx="857160" cy="171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850" strike="noStrike" u="none">
                  <a:solidFill>
                    <a:srgbClr val="00b4d8"/>
                  </a:solidFill>
                  <a:effectLst/>
                  <a:uFillTx/>
                  <a:latin typeface="Roboto Mono Medium"/>
                  <a:ea typeface="Roboto Mono Medium"/>
                </a:rPr>
                <a:t>VISUAL XAI PIPELINE</a:t>
              </a:r>
              <a:endParaRPr b="0" lang="en-IN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85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Temporal MRI Sequence → Deep XAI Network → Progression Score</a:t>
              </a:r>
              <a:endParaRPr b="0" lang="en-IN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45;p17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9" name="Google Shape;146;p17"/>
          <p:cNvGrpSpPr/>
          <p:nvPr/>
        </p:nvGrpSpPr>
        <p:grpSpPr>
          <a:xfrm>
            <a:off x="8412480" y="316080"/>
            <a:ext cx="304560" cy="304560"/>
            <a:chOff x="8412480" y="316080"/>
            <a:chExt cx="304560" cy="304560"/>
          </a:xfrm>
        </p:grpSpPr>
        <p:sp>
          <p:nvSpPr>
            <p:cNvPr id="110" name="Google Shape;147;p17"/>
            <p:cNvSpPr/>
            <p:nvPr/>
          </p:nvSpPr>
          <p:spPr>
            <a:xfrm>
              <a:off x="8412480" y="316080"/>
              <a:ext cx="304560" cy="304560"/>
            </a:xfrm>
            <a:prstGeom prst="ellipse">
              <a:avLst/>
            </a:prstGeom>
            <a:noFill/>
            <a:ln w="19050">
              <a:solidFill>
                <a:srgbClr val="00b4d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Google Shape;148;p17"/>
            <p:cNvSpPr/>
            <p:nvPr/>
          </p:nvSpPr>
          <p:spPr>
            <a:xfrm>
              <a:off x="8503920" y="377280"/>
              <a:ext cx="121680" cy="91080"/>
            </a:xfrm>
            <a:custGeom>
              <a:avLst/>
              <a:gdLst>
                <a:gd name="textAreaLeft" fmla="*/ 0 w 121680"/>
                <a:gd name="textAreaRight" fmla="*/ 122040 w 121680"/>
                <a:gd name="textAreaTop" fmla="*/ 0 h 91080"/>
                <a:gd name="textAreaBottom" fmla="*/ 91440 h 91080"/>
              </a:gdLst>
              <a:ahLst/>
              <a:cxnLst/>
              <a:rect l="textAreaLeft" t="textAreaTop" r="textAreaRight" b="textAreaBottom"/>
              <a:pathLst>
                <a:path w="120000" h="120000">
                  <a:moveTo>
                    <a:pt x="0" y="120000"/>
                  </a:moveTo>
                  <a:quadBezTo>
                    <a:pt x="60000" y="0"/>
                    <a:pt x="120000" y="120000"/>
                  </a:quadBezTo>
                  <a:lnTo>
                    <a:pt x="0" y="120000"/>
                  </a:lnTo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Google Shape;149;p17"/>
            <p:cNvSpPr/>
            <p:nvPr/>
          </p:nvSpPr>
          <p:spPr>
            <a:xfrm>
              <a:off x="8481240" y="445680"/>
              <a:ext cx="45360" cy="45360"/>
            </a:xfrm>
            <a:prstGeom prst="ellipse">
              <a:avLst/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Google Shape;150;p17"/>
            <p:cNvSpPr/>
            <p:nvPr/>
          </p:nvSpPr>
          <p:spPr>
            <a:xfrm>
              <a:off x="8602920" y="445680"/>
              <a:ext cx="45360" cy="45360"/>
            </a:xfrm>
            <a:prstGeom prst="ellipse">
              <a:avLst/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Google Shape;151;p17"/>
            <p:cNvSpPr/>
            <p:nvPr/>
          </p:nvSpPr>
          <p:spPr>
            <a:xfrm>
              <a:off x="8549640" y="407520"/>
              <a:ext cx="30240" cy="302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5" name="Google Shape;152;p17" descr=""/>
          <p:cNvPicPr/>
          <p:nvPr/>
        </p:nvPicPr>
        <p:blipFill>
          <a:blip r:embed="rId2"/>
          <a:stretch/>
        </p:blipFill>
        <p:spPr>
          <a:xfrm>
            <a:off x="380880" y="762120"/>
            <a:ext cx="8381520" cy="1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Google Shape;153;p17"/>
          <p:cNvSpPr/>
          <p:nvPr/>
        </p:nvSpPr>
        <p:spPr>
          <a:xfrm>
            <a:off x="380880" y="190440"/>
            <a:ext cx="78102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820" strike="noStrike" u="non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A Robust Pipeline Powered by 3D CNNs and Temporal Modeling</a:t>
            </a:r>
            <a:endParaRPr b="0" lang="en-IN" sz="1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GB" sz="1050" strike="noStrike" u="none">
                <a:solidFill>
                  <a:srgbClr val="00b4d8"/>
                </a:solidFill>
                <a:effectLst/>
                <a:uFillTx/>
                <a:latin typeface="Inter Medium"/>
                <a:ea typeface="Inter Medium"/>
              </a:rPr>
              <a:t>End-to-End Longitudinal Dementia Progression Risk Prediction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7" name="Google Shape;154;p17"/>
          <p:cNvGrpSpPr/>
          <p:nvPr/>
        </p:nvGrpSpPr>
        <p:grpSpPr>
          <a:xfrm>
            <a:off x="380880" y="952560"/>
            <a:ext cx="4076280" cy="1809360"/>
            <a:chOff x="380880" y="952560"/>
            <a:chExt cx="4076280" cy="1809360"/>
          </a:xfrm>
        </p:grpSpPr>
        <p:sp>
          <p:nvSpPr>
            <p:cNvPr id="118" name="Google Shape;155;p17"/>
            <p:cNvSpPr/>
            <p:nvPr/>
          </p:nvSpPr>
          <p:spPr>
            <a:xfrm>
              <a:off x="380880" y="952560"/>
              <a:ext cx="4076280" cy="1809360"/>
            </a:xfrm>
            <a:prstGeom prst="roundRect">
              <a:avLst>
                <a:gd name="adj" fmla="val 6315"/>
              </a:avLst>
            </a:prstGeom>
            <a:solidFill>
              <a:srgbClr val="1c2541"/>
            </a:solidFill>
            <a:ln w="9525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Google Shape;156;p17"/>
            <p:cNvSpPr/>
            <p:nvPr/>
          </p:nvSpPr>
          <p:spPr>
            <a:xfrm>
              <a:off x="609480" y="1143000"/>
              <a:ext cx="3619080" cy="142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92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01 / DATASET</a:t>
              </a:r>
              <a:endParaRPr b="0" lang="en-IN" sz="9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1" lang="en-GB" sz="1390" strike="noStrike" u="none">
                  <a:solidFill>
                    <a:srgbClr val="00b4d8"/>
                  </a:solidFill>
                  <a:effectLst/>
                  <a:uFillTx/>
                  <a:latin typeface="Inter"/>
                  <a:ea typeface="Inter"/>
                </a:rPr>
                <a:t>OASIS-2 Dataset</a:t>
              </a:r>
              <a:endParaRPr b="0" lang="en-IN" sz="139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01"/>
                </a:spcBef>
                <a:tabLst>
                  <a:tab algn="l" pos="0"/>
                </a:tabLst>
              </a:pPr>
              <a:r>
                <a:rPr b="0" lang="en-GB" sz="111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Our prototype leverages the </a:t>
              </a:r>
              <a:r>
                <a:rPr b="1" lang="en-GB" sz="111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OASIS-2 Longitudinal Dementia</a:t>
              </a:r>
              <a:r>
                <a:rPr b="0" lang="en-GB" sz="111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 dataset.</a:t>
              </a:r>
              <a:endParaRPr b="0" lang="en-IN" sz="111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0" lang="en-GB" sz="111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Enables multi-visit tracking and temporal evaluation of structural brain changes over extended clinical studies.</a:t>
              </a:r>
              <a:endParaRPr b="0" lang="en-IN" sz="111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0" name="Google Shape;157;p17"/>
          <p:cNvGrpSpPr/>
          <p:nvPr/>
        </p:nvGrpSpPr>
        <p:grpSpPr>
          <a:xfrm>
            <a:off x="4686480" y="952560"/>
            <a:ext cx="4076280" cy="1809360"/>
            <a:chOff x="4686480" y="952560"/>
            <a:chExt cx="4076280" cy="1809360"/>
          </a:xfrm>
        </p:grpSpPr>
        <p:sp>
          <p:nvSpPr>
            <p:cNvPr id="121" name="Google Shape;158;p17"/>
            <p:cNvSpPr/>
            <p:nvPr/>
          </p:nvSpPr>
          <p:spPr>
            <a:xfrm>
              <a:off x="4686480" y="952560"/>
              <a:ext cx="4076280" cy="1809360"/>
            </a:xfrm>
            <a:prstGeom prst="roundRect">
              <a:avLst>
                <a:gd name="adj" fmla="val 6315"/>
              </a:avLst>
            </a:prstGeom>
            <a:solidFill>
              <a:srgbClr val="1c2541"/>
            </a:solidFill>
            <a:ln w="9525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Google Shape;159;p17"/>
            <p:cNvSpPr/>
            <p:nvPr/>
          </p:nvSpPr>
          <p:spPr>
            <a:xfrm>
              <a:off x="4915080" y="1143000"/>
              <a:ext cx="3619080" cy="142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00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02 / PIPELINE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1" lang="en-GB" sz="1500" strike="noStrike" u="none">
                  <a:solidFill>
                    <a:srgbClr val="00b4d8"/>
                  </a:solidFill>
                  <a:effectLst/>
                  <a:uFillTx/>
                  <a:latin typeface="Inter"/>
                  <a:ea typeface="Inter"/>
                </a:rPr>
                <a:t>Preprocessing</a:t>
              </a:r>
              <a:endPara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01"/>
                </a:spcBef>
                <a:tabLst>
                  <a:tab algn="l" pos="0"/>
                </a:tabLst>
              </a:pPr>
              <a:r>
                <a:rPr b="0" lang="en-GB" sz="120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Standardized sequential preprocessing pipeline:</a:t>
              </a:r>
              <a:endPara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298440">
                <a:lnSpc>
                  <a:spcPct val="100000"/>
                </a:lnSpc>
                <a:spcBef>
                  <a:spcPts val="601"/>
                </a:spcBef>
                <a:buClr>
                  <a:srgbClr val="ffffff"/>
                </a:buClr>
                <a:buFont typeface="Roboto"/>
                <a:buChar char="●"/>
                <a:tabLst>
                  <a:tab algn="l" pos="0"/>
                </a:tabLst>
              </a:pPr>
              <a:r>
                <a:rPr b="0" lang="en-GB" sz="110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Quality checking &amp; spatial registration</a:t>
              </a:r>
              <a:endParaRPr b="0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298440">
                <a:lnSpc>
                  <a:spcPct val="100000"/>
                </a:lnSpc>
                <a:spcBef>
                  <a:spcPts val="451"/>
                </a:spcBef>
                <a:buClr>
                  <a:srgbClr val="ffffff"/>
                </a:buClr>
                <a:buFont typeface="Roboto"/>
                <a:buChar char="●"/>
                <a:tabLst>
                  <a:tab algn="l" pos="0"/>
                </a:tabLst>
              </a:pPr>
              <a:r>
                <a:rPr b="0" lang="en-GB" sz="110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Skull stripping &amp; intensity normalization</a:t>
              </a:r>
              <a:endParaRPr b="0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298440">
                <a:lnSpc>
                  <a:spcPct val="100000"/>
                </a:lnSpc>
                <a:spcBef>
                  <a:spcPts val="451"/>
                </a:spcBef>
                <a:spcAft>
                  <a:spcPts val="451"/>
                </a:spcAft>
                <a:buClr>
                  <a:srgbClr val="ffffff"/>
                </a:buClr>
                <a:buFont typeface="Roboto"/>
                <a:buChar char="●"/>
                <a:tabLst>
                  <a:tab algn="l" pos="0"/>
                </a:tabLst>
              </a:pPr>
              <a:r>
                <a:rPr b="0" lang="en-GB" sz="110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Resampling to standardized 3D dimensions</a:t>
              </a:r>
              <a:endParaRPr b="0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3" name="Google Shape;160;p17"/>
          <p:cNvGrpSpPr/>
          <p:nvPr/>
        </p:nvGrpSpPr>
        <p:grpSpPr>
          <a:xfrm>
            <a:off x="380880" y="2952720"/>
            <a:ext cx="4076280" cy="1809360"/>
            <a:chOff x="380880" y="2952720"/>
            <a:chExt cx="4076280" cy="1809360"/>
          </a:xfrm>
        </p:grpSpPr>
        <p:sp>
          <p:nvSpPr>
            <p:cNvPr id="124" name="Google Shape;161;p17"/>
            <p:cNvSpPr/>
            <p:nvPr/>
          </p:nvSpPr>
          <p:spPr>
            <a:xfrm>
              <a:off x="380880" y="2952720"/>
              <a:ext cx="4076280" cy="1809360"/>
            </a:xfrm>
            <a:prstGeom prst="roundRect">
              <a:avLst>
                <a:gd name="adj" fmla="val 6315"/>
              </a:avLst>
            </a:prstGeom>
            <a:solidFill>
              <a:srgbClr val="1c2541"/>
            </a:solidFill>
            <a:ln w="9525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Google Shape;162;p17"/>
            <p:cNvSpPr/>
            <p:nvPr/>
          </p:nvSpPr>
          <p:spPr>
            <a:xfrm>
              <a:off x="609480" y="3143160"/>
              <a:ext cx="3619080" cy="142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92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03 / ARCHITECTURE</a:t>
              </a:r>
              <a:endParaRPr b="0" lang="en-IN" sz="9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1" lang="en-GB" sz="1390" strike="noStrike" u="none">
                  <a:solidFill>
                    <a:srgbClr val="00b4d8"/>
                  </a:solidFill>
                  <a:effectLst/>
                  <a:uFillTx/>
                  <a:latin typeface="Inter"/>
                  <a:ea typeface="Inter"/>
                </a:rPr>
                <a:t>AI Model Architecture</a:t>
              </a:r>
              <a:endParaRPr b="0" lang="en-IN" sz="139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01"/>
                </a:spcBef>
                <a:tabLst>
                  <a:tab algn="l" pos="0"/>
                </a:tabLst>
              </a:pPr>
              <a:r>
                <a:rPr b="1" lang="en-GB" sz="111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3D CNN:</a:t>
              </a:r>
              <a:r>
                <a:rPr b="0" lang="en-GB" sz="111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 Extracts deep spatial feature representations directly from volumetric MRI data.</a:t>
              </a:r>
              <a:endParaRPr b="0" lang="en-IN" sz="111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1" lang="en-GB" sz="111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Temporal Model:</a:t>
              </a:r>
              <a:r>
                <a:rPr b="0" lang="en-GB" sz="111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 Integrates an LSTM or Transformer module for longitudinal progression-risk prediction over time.</a:t>
              </a:r>
              <a:endParaRPr b="0" lang="en-IN" sz="111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6" name="Google Shape;163;p17"/>
          <p:cNvGrpSpPr/>
          <p:nvPr/>
        </p:nvGrpSpPr>
        <p:grpSpPr>
          <a:xfrm>
            <a:off x="4686480" y="2952720"/>
            <a:ext cx="4076280" cy="1809360"/>
            <a:chOff x="4686480" y="2952720"/>
            <a:chExt cx="4076280" cy="1809360"/>
          </a:xfrm>
        </p:grpSpPr>
        <p:sp>
          <p:nvSpPr>
            <p:cNvPr id="127" name="Google Shape;164;p17"/>
            <p:cNvSpPr/>
            <p:nvPr/>
          </p:nvSpPr>
          <p:spPr>
            <a:xfrm>
              <a:off x="4686480" y="2952720"/>
              <a:ext cx="4076280" cy="1809360"/>
            </a:xfrm>
            <a:prstGeom prst="roundRect">
              <a:avLst>
                <a:gd name="adj" fmla="val 6315"/>
              </a:avLst>
            </a:prstGeom>
            <a:solidFill>
              <a:srgbClr val="1c2541"/>
            </a:solidFill>
            <a:ln w="9525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Google Shape;165;p17"/>
            <p:cNvSpPr/>
            <p:nvPr/>
          </p:nvSpPr>
          <p:spPr>
            <a:xfrm>
              <a:off x="4915080" y="3143160"/>
              <a:ext cx="3619080" cy="142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00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04 / EXPLAINABILITY &amp; STACK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1" lang="en-GB" sz="1500" strike="noStrike" u="none">
                  <a:solidFill>
                    <a:srgbClr val="00b4d8"/>
                  </a:solidFill>
                  <a:effectLst/>
                  <a:uFillTx/>
                  <a:latin typeface="Inter"/>
                  <a:ea typeface="Inter"/>
                </a:rPr>
                <a:t>Interpretability &amp; Framework</a:t>
              </a:r>
              <a:endPara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601"/>
                </a:spcBef>
                <a:tabLst>
                  <a:tab algn="l" pos="0"/>
                </a:tabLst>
              </a:pPr>
              <a:r>
                <a:rPr b="1" lang="en-GB" sz="120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Grad-CAM:</a:t>
              </a:r>
              <a:r>
                <a:rPr b="0" lang="en-GB" sz="1200" strike="noStrike" u="none">
                  <a:solidFill>
                    <a:srgbClr val="ffffff"/>
                  </a:solidFill>
                  <a:effectLst/>
                  <a:uFillTx/>
                  <a:latin typeface="Roboto"/>
                  <a:ea typeface="Roboto"/>
                </a:rPr>
                <a:t> Utilized for attention visual maps to highlight predictive brain regions for clinicians.</a:t>
              </a:r>
              <a:endPara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901"/>
                </a:spcBef>
                <a:tabLst>
                  <a:tab algn="l" pos="0"/>
                </a:tabLst>
              </a:pPr>
              <a:r>
                <a:rPr b="0" lang="en-GB" sz="1000" strike="noStrike" u="none">
                  <a:solidFill>
                    <a:srgbClr val="00b4d8"/>
                  </a:solidFill>
                  <a:effectLst/>
                  <a:highlight>
                    <a:srgbClr val="0b132b"/>
                  </a:highlight>
                  <a:uFillTx/>
                  <a:latin typeface="Roboto Mono Medium"/>
                  <a:ea typeface="Roboto Mono Medium"/>
                </a:rPr>
                <a:t>Python</a:t>
              </a:r>
              <a:r>
                <a:rPr b="0" lang="en-GB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</a:t>
              </a:r>
              <a:r>
                <a:rPr b="0" lang="en-GB" sz="1000" strike="noStrike" u="none">
                  <a:solidFill>
                    <a:srgbClr val="00b4d8"/>
                  </a:solidFill>
                  <a:effectLst/>
                  <a:highlight>
                    <a:srgbClr val="0b132b"/>
                  </a:highlight>
                  <a:uFillTx/>
                  <a:latin typeface="Roboto Mono Medium"/>
                  <a:ea typeface="Roboto Mono Medium"/>
                </a:rPr>
                <a:t>PyTorch</a:t>
              </a:r>
              <a:r>
                <a:rPr b="0" lang="en-GB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</a:t>
              </a:r>
              <a:r>
                <a:rPr b="0" lang="en-GB" sz="1000" strike="noStrike" u="none">
                  <a:solidFill>
                    <a:srgbClr val="00b4d8"/>
                  </a:solidFill>
                  <a:effectLst/>
                  <a:highlight>
                    <a:srgbClr val="0b132b"/>
                  </a:highlight>
                  <a:uFillTx/>
                  <a:latin typeface="Roboto Mono Medium"/>
                  <a:ea typeface="Roboto Mono Medium"/>
                </a:rPr>
                <a:t>MONAI</a:t>
              </a:r>
              <a:r>
                <a:rPr b="0" lang="en-GB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</a:t>
              </a:r>
              <a:r>
                <a:rPr b="0" lang="en-GB" sz="1000" strike="noStrike" u="none">
                  <a:solidFill>
                    <a:srgbClr val="00b4d8"/>
                  </a:solidFill>
                  <a:effectLst/>
                  <a:highlight>
                    <a:srgbClr val="0b132b"/>
                  </a:highlight>
                  <a:uFillTx/>
                  <a:latin typeface="Roboto Mono Medium"/>
                  <a:ea typeface="Roboto Mono Medium"/>
                </a:rPr>
                <a:t>NiBabel</a:t>
              </a:r>
              <a:r>
                <a:rPr b="0" lang="en-GB" sz="14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 </a:t>
              </a:r>
              <a:r>
                <a:rPr b="0" lang="en-GB" sz="1000" strike="noStrike" u="none">
                  <a:solidFill>
                    <a:srgbClr val="00b4d8"/>
                  </a:solidFill>
                  <a:effectLst/>
                  <a:highlight>
                    <a:srgbClr val="0b132b"/>
                  </a:highlight>
                  <a:uFillTx/>
                  <a:latin typeface="Roboto Mono Medium"/>
                  <a:ea typeface="Roboto Mono Medium"/>
                </a:rPr>
                <a:t>Streamlit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70;p18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0" name="Google Shape;171;p18"/>
          <p:cNvGrpSpPr/>
          <p:nvPr/>
        </p:nvGrpSpPr>
        <p:grpSpPr>
          <a:xfrm>
            <a:off x="8408520" y="255240"/>
            <a:ext cx="266400" cy="266400"/>
            <a:chOff x="8408520" y="255240"/>
            <a:chExt cx="266400" cy="266400"/>
          </a:xfrm>
        </p:grpSpPr>
        <p:sp>
          <p:nvSpPr>
            <p:cNvPr id="131" name="Google Shape;172;p18"/>
            <p:cNvSpPr/>
            <p:nvPr/>
          </p:nvSpPr>
          <p:spPr>
            <a:xfrm>
              <a:off x="8408520" y="255240"/>
              <a:ext cx="266400" cy="266400"/>
            </a:xfrm>
            <a:prstGeom prst="ellipse">
              <a:avLst/>
            </a:prstGeom>
            <a:noFill/>
            <a:ln w="19050">
              <a:solidFill>
                <a:srgbClr val="00b4d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Google Shape;173;p18"/>
            <p:cNvSpPr/>
            <p:nvPr/>
          </p:nvSpPr>
          <p:spPr>
            <a:xfrm>
              <a:off x="8488800" y="308520"/>
              <a:ext cx="106200" cy="795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120000" h="120000">
                  <a:moveTo>
                    <a:pt x="0" y="120000"/>
                  </a:moveTo>
                  <a:quadBezTo>
                    <a:pt x="60000" y="0"/>
                    <a:pt x="120000" y="120000"/>
                  </a:quadBezTo>
                  <a:lnTo>
                    <a:pt x="0" y="120000"/>
                  </a:lnTo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Google Shape;174;p18"/>
            <p:cNvSpPr/>
            <p:nvPr/>
          </p:nvSpPr>
          <p:spPr>
            <a:xfrm>
              <a:off x="8468640" y="368640"/>
              <a:ext cx="39600" cy="39600"/>
            </a:xfrm>
            <a:prstGeom prst="ellipse">
              <a:avLst/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Google Shape;175;p18"/>
            <p:cNvSpPr/>
            <p:nvPr/>
          </p:nvSpPr>
          <p:spPr>
            <a:xfrm>
              <a:off x="8575200" y="368640"/>
              <a:ext cx="39600" cy="39600"/>
            </a:xfrm>
            <a:prstGeom prst="ellipse">
              <a:avLst/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Google Shape;176;p18"/>
            <p:cNvSpPr/>
            <p:nvPr/>
          </p:nvSpPr>
          <p:spPr>
            <a:xfrm>
              <a:off x="8528760" y="335160"/>
              <a:ext cx="26280" cy="2628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6" name="Google Shape;177;p18"/>
          <p:cNvSpPr/>
          <p:nvPr/>
        </p:nvSpPr>
        <p:spPr>
          <a:xfrm>
            <a:off x="380880" y="209520"/>
            <a:ext cx="78102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870" strike="noStrike" u="non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End-to-End Clinical Workflow</a:t>
            </a:r>
            <a:endParaRPr b="0" lang="en-IN" sz="1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GB" sz="1110" strike="noStrike" u="none">
                <a:solidFill>
                  <a:srgbClr val="00b4d8"/>
                </a:solidFill>
                <a:effectLst/>
                <a:uFillTx/>
                <a:latin typeface="Inter Medium"/>
                <a:ea typeface="Inter Medium"/>
              </a:rPr>
              <a:t>From OASIS-2 Raw MRI Scans to Interactive AI Progression Dashboard</a:t>
            </a:r>
            <a:endParaRPr b="0" lang="en-IN" sz="11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Google Shape;178;p18" descr=""/>
          <p:cNvPicPr/>
          <p:nvPr/>
        </p:nvPicPr>
        <p:blipFill>
          <a:blip r:embed="rId2"/>
          <a:stretch/>
        </p:blipFill>
        <p:spPr>
          <a:xfrm>
            <a:off x="380880" y="762120"/>
            <a:ext cx="8381520" cy="1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Google Shape;179;p18"/>
          <p:cNvSpPr/>
          <p:nvPr/>
        </p:nvSpPr>
        <p:spPr>
          <a:xfrm>
            <a:off x="380880" y="876240"/>
            <a:ext cx="838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GB" sz="900" strike="noStrike" u="none">
                <a:solidFill>
                  <a:srgbClr val="90e0ef"/>
                </a:solidFill>
                <a:effectLst/>
                <a:uFillTx/>
                <a:latin typeface="Roboto Mono Medium"/>
                <a:ea typeface="Roboto Mono Medium"/>
              </a:rPr>
              <a:t>ARCHITECTURE &amp; PIPELINE FLOW</a:t>
            </a:r>
            <a:endParaRPr b="0" lang="en-IN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9" name="Google Shape;180;p18"/>
          <p:cNvGrpSpPr/>
          <p:nvPr/>
        </p:nvGrpSpPr>
        <p:grpSpPr>
          <a:xfrm>
            <a:off x="380880" y="1085760"/>
            <a:ext cx="1371240" cy="1009440"/>
            <a:chOff x="380880" y="1085760"/>
            <a:chExt cx="1371240" cy="1009440"/>
          </a:xfrm>
        </p:grpSpPr>
        <p:sp>
          <p:nvSpPr>
            <p:cNvPr id="140" name="Google Shape;181;p18"/>
            <p:cNvSpPr/>
            <p:nvPr/>
          </p:nvSpPr>
          <p:spPr>
            <a:xfrm>
              <a:off x="380880" y="1085760"/>
              <a:ext cx="1371240" cy="1009440"/>
            </a:xfrm>
            <a:prstGeom prst="roundRect">
              <a:avLst>
                <a:gd name="adj" fmla="val 7547"/>
              </a:avLst>
            </a:prstGeom>
            <a:solidFill>
              <a:srgbClr val="1c2541"/>
            </a:solidFill>
            <a:ln w="14300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Google Shape;182;p18"/>
            <p:cNvSpPr/>
            <p:nvPr/>
          </p:nvSpPr>
          <p:spPr>
            <a:xfrm>
              <a:off x="380880" y="1085760"/>
              <a:ext cx="1371240" cy="37800"/>
            </a:xfrm>
            <a:prstGeom prst="roundRect">
              <a:avLst>
                <a:gd name="adj" fmla="val 50000"/>
              </a:avLst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Google Shape;183;p18"/>
            <p:cNvSpPr/>
            <p:nvPr/>
          </p:nvSpPr>
          <p:spPr>
            <a:xfrm>
              <a:off x="476280" y="1200240"/>
              <a:ext cx="1180800" cy="799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80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STEP 01</a:t>
              </a:r>
              <a:endParaRPr b="0" lang="en-IN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50"/>
                </a:spcBef>
                <a:tabLst>
                  <a:tab algn="l" pos="0"/>
                </a:tabLst>
              </a:pPr>
              <a:r>
                <a:rPr b="1" lang="en-GB" sz="1100" strike="noStrike" u="none">
                  <a:solidFill>
                    <a:srgbClr val="ffffff"/>
                  </a:solidFill>
                  <a:effectLst/>
                  <a:uFillTx/>
                  <a:latin typeface="Inter"/>
                  <a:ea typeface="Inter"/>
                </a:rPr>
                <a:t>OASIS-2 MRI</a:t>
              </a:r>
              <a:endParaRPr b="0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95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Data validation &amp; preprocessing of raw scans</a:t>
              </a:r>
              <a:endParaRPr b="0" lang="en-IN" sz="9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3" name="Google Shape;184;p18" descr=""/>
          <p:cNvPicPr/>
          <p:nvPr/>
        </p:nvPicPr>
        <p:blipFill>
          <a:blip r:embed="rId3"/>
          <a:stretch/>
        </p:blipFill>
        <p:spPr>
          <a:xfrm>
            <a:off x="1790640" y="1542960"/>
            <a:ext cx="256680" cy="950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4" name="Google Shape;185;p18"/>
          <p:cNvGrpSpPr/>
          <p:nvPr/>
        </p:nvGrpSpPr>
        <p:grpSpPr>
          <a:xfrm>
            <a:off x="2057400" y="1085760"/>
            <a:ext cx="1371240" cy="1009440"/>
            <a:chOff x="2057400" y="1085760"/>
            <a:chExt cx="1371240" cy="1009440"/>
          </a:xfrm>
        </p:grpSpPr>
        <p:sp>
          <p:nvSpPr>
            <p:cNvPr id="145" name="Google Shape;186;p18"/>
            <p:cNvSpPr/>
            <p:nvPr/>
          </p:nvSpPr>
          <p:spPr>
            <a:xfrm>
              <a:off x="2057400" y="1085760"/>
              <a:ext cx="1371240" cy="1009440"/>
            </a:xfrm>
            <a:prstGeom prst="roundRect">
              <a:avLst>
                <a:gd name="adj" fmla="val 7547"/>
              </a:avLst>
            </a:prstGeom>
            <a:solidFill>
              <a:srgbClr val="1c2541"/>
            </a:solidFill>
            <a:ln w="14300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Google Shape;187;p18"/>
            <p:cNvSpPr/>
            <p:nvPr/>
          </p:nvSpPr>
          <p:spPr>
            <a:xfrm>
              <a:off x="2057400" y="1085760"/>
              <a:ext cx="1371240" cy="37800"/>
            </a:xfrm>
            <a:prstGeom prst="roundRect">
              <a:avLst>
                <a:gd name="adj" fmla="val 50000"/>
              </a:avLst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Google Shape;188;p18"/>
            <p:cNvSpPr/>
            <p:nvPr/>
          </p:nvSpPr>
          <p:spPr>
            <a:xfrm>
              <a:off x="2152800" y="1200240"/>
              <a:ext cx="1180800" cy="799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80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STEP 02</a:t>
              </a:r>
              <a:endParaRPr b="0" lang="en-IN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50"/>
                </a:spcBef>
                <a:tabLst>
                  <a:tab algn="l" pos="0"/>
                </a:tabLst>
              </a:pPr>
              <a:r>
                <a:rPr b="1" lang="en-GB" sz="1100" strike="noStrike" u="none">
                  <a:solidFill>
                    <a:srgbClr val="ffffff"/>
                  </a:solidFill>
                  <a:effectLst/>
                  <a:uFillTx/>
                  <a:latin typeface="Inter"/>
                  <a:ea typeface="Inter"/>
                </a:rPr>
                <a:t>3D CNN Model</a:t>
              </a:r>
              <a:endParaRPr b="0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95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Brain feature representation extraction</a:t>
              </a:r>
              <a:endParaRPr b="0" lang="en-IN" sz="9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8" name="Google Shape;189;p18" descr=""/>
          <p:cNvPicPr/>
          <p:nvPr/>
        </p:nvPicPr>
        <p:blipFill>
          <a:blip r:embed="rId4"/>
          <a:stretch/>
        </p:blipFill>
        <p:spPr>
          <a:xfrm>
            <a:off x="3467160" y="1542960"/>
            <a:ext cx="256680" cy="950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9" name="Google Shape;190;p18"/>
          <p:cNvGrpSpPr/>
          <p:nvPr/>
        </p:nvGrpSpPr>
        <p:grpSpPr>
          <a:xfrm>
            <a:off x="3733920" y="1085760"/>
            <a:ext cx="1371240" cy="1009440"/>
            <a:chOff x="3733920" y="1085760"/>
            <a:chExt cx="1371240" cy="1009440"/>
          </a:xfrm>
        </p:grpSpPr>
        <p:sp>
          <p:nvSpPr>
            <p:cNvPr id="150" name="Google Shape;191;p18"/>
            <p:cNvSpPr/>
            <p:nvPr/>
          </p:nvSpPr>
          <p:spPr>
            <a:xfrm>
              <a:off x="3733920" y="1085760"/>
              <a:ext cx="1371240" cy="1009440"/>
            </a:xfrm>
            <a:prstGeom prst="roundRect">
              <a:avLst>
                <a:gd name="adj" fmla="val 7547"/>
              </a:avLst>
            </a:prstGeom>
            <a:solidFill>
              <a:srgbClr val="1c2541"/>
            </a:solidFill>
            <a:ln w="14300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Google Shape;192;p18"/>
            <p:cNvSpPr/>
            <p:nvPr/>
          </p:nvSpPr>
          <p:spPr>
            <a:xfrm>
              <a:off x="3733920" y="1085760"/>
              <a:ext cx="1371240" cy="37800"/>
            </a:xfrm>
            <a:prstGeom prst="roundRect">
              <a:avLst>
                <a:gd name="adj" fmla="val 50000"/>
              </a:avLst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Google Shape;193;p18"/>
            <p:cNvSpPr/>
            <p:nvPr/>
          </p:nvSpPr>
          <p:spPr>
            <a:xfrm>
              <a:off x="3828960" y="1200240"/>
              <a:ext cx="1180800" cy="799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80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STEP 03</a:t>
              </a:r>
              <a:endParaRPr b="0" lang="en-IN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50"/>
                </a:spcBef>
                <a:tabLst>
                  <a:tab algn="l" pos="0"/>
                </a:tabLst>
              </a:pPr>
              <a:r>
                <a:rPr b="1" lang="en-GB" sz="1100" strike="noStrike" u="none">
                  <a:solidFill>
                    <a:srgbClr val="ffffff"/>
                  </a:solidFill>
                  <a:effectLst/>
                  <a:uFillTx/>
                  <a:latin typeface="Inter"/>
                  <a:ea typeface="Inter"/>
                </a:rPr>
                <a:t>Temporal Model</a:t>
              </a:r>
              <a:endParaRPr b="0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95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Longitudinal sequence &amp; progression risk</a:t>
              </a:r>
              <a:endParaRPr b="0" lang="en-IN" sz="9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53" name="Google Shape;194;p18" descr=""/>
          <p:cNvPicPr/>
          <p:nvPr/>
        </p:nvPicPr>
        <p:blipFill>
          <a:blip r:embed="rId5"/>
          <a:stretch/>
        </p:blipFill>
        <p:spPr>
          <a:xfrm>
            <a:off x="5143680" y="1542960"/>
            <a:ext cx="256680" cy="950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4" name="Google Shape;195;p18"/>
          <p:cNvGrpSpPr/>
          <p:nvPr/>
        </p:nvGrpSpPr>
        <p:grpSpPr>
          <a:xfrm>
            <a:off x="5410080" y="1085760"/>
            <a:ext cx="1371240" cy="1009440"/>
            <a:chOff x="5410080" y="1085760"/>
            <a:chExt cx="1371240" cy="1009440"/>
          </a:xfrm>
        </p:grpSpPr>
        <p:sp>
          <p:nvSpPr>
            <p:cNvPr id="155" name="Google Shape;196;p18"/>
            <p:cNvSpPr/>
            <p:nvPr/>
          </p:nvSpPr>
          <p:spPr>
            <a:xfrm>
              <a:off x="5410080" y="1085760"/>
              <a:ext cx="1371240" cy="1009440"/>
            </a:xfrm>
            <a:prstGeom prst="roundRect">
              <a:avLst>
                <a:gd name="adj" fmla="val 7547"/>
              </a:avLst>
            </a:prstGeom>
            <a:solidFill>
              <a:srgbClr val="1c2541"/>
            </a:solidFill>
            <a:ln w="14300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Google Shape;197;p18"/>
            <p:cNvSpPr/>
            <p:nvPr/>
          </p:nvSpPr>
          <p:spPr>
            <a:xfrm>
              <a:off x="5410080" y="1085760"/>
              <a:ext cx="1371240" cy="37800"/>
            </a:xfrm>
            <a:prstGeom prst="roundRect">
              <a:avLst>
                <a:gd name="adj" fmla="val 50000"/>
              </a:avLst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Google Shape;198;p18"/>
            <p:cNvSpPr/>
            <p:nvPr/>
          </p:nvSpPr>
          <p:spPr>
            <a:xfrm>
              <a:off x="5505480" y="1200240"/>
              <a:ext cx="1180800" cy="799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80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STEP 04</a:t>
              </a:r>
              <a:endParaRPr b="0" lang="en-IN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50"/>
                </a:spcBef>
                <a:tabLst>
                  <a:tab algn="l" pos="0"/>
                </a:tabLst>
              </a:pPr>
              <a:r>
                <a:rPr b="1" lang="en-GB" sz="1100" strike="noStrike" u="none">
                  <a:solidFill>
                    <a:srgbClr val="ffffff"/>
                  </a:solidFill>
                  <a:effectLst/>
                  <a:uFillTx/>
                  <a:latin typeface="Inter"/>
                  <a:ea typeface="Inter"/>
                </a:rPr>
                <a:t>Explainability</a:t>
              </a:r>
              <a:endParaRPr b="0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95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Grad-CAM heatmaps &amp; visual model maps</a:t>
              </a:r>
              <a:endParaRPr b="0" lang="en-IN" sz="9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58" name="Google Shape;199;p18" descr=""/>
          <p:cNvPicPr/>
          <p:nvPr/>
        </p:nvPicPr>
        <p:blipFill>
          <a:blip r:embed="rId6"/>
          <a:stretch/>
        </p:blipFill>
        <p:spPr>
          <a:xfrm>
            <a:off x="6819840" y="1542960"/>
            <a:ext cx="256680" cy="950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9" name="Google Shape;200;p18"/>
          <p:cNvGrpSpPr/>
          <p:nvPr/>
        </p:nvGrpSpPr>
        <p:grpSpPr>
          <a:xfrm>
            <a:off x="7086600" y="1085760"/>
            <a:ext cx="1676160" cy="1009440"/>
            <a:chOff x="7086600" y="1085760"/>
            <a:chExt cx="1676160" cy="1009440"/>
          </a:xfrm>
        </p:grpSpPr>
        <p:sp>
          <p:nvSpPr>
            <p:cNvPr id="160" name="Google Shape;201;p18"/>
            <p:cNvSpPr/>
            <p:nvPr/>
          </p:nvSpPr>
          <p:spPr>
            <a:xfrm>
              <a:off x="7086600" y="1085760"/>
              <a:ext cx="1676160" cy="1009440"/>
            </a:xfrm>
            <a:prstGeom prst="roundRect">
              <a:avLst>
                <a:gd name="adj" fmla="val 7547"/>
              </a:avLst>
            </a:prstGeom>
            <a:solidFill>
              <a:srgbClr val="2a3659"/>
            </a:solidFill>
            <a:ln w="14300">
              <a:solidFill>
                <a:srgbClr val="00b4d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Google Shape;202;p18"/>
            <p:cNvSpPr/>
            <p:nvPr/>
          </p:nvSpPr>
          <p:spPr>
            <a:xfrm>
              <a:off x="7086600" y="1085760"/>
              <a:ext cx="1676160" cy="37800"/>
            </a:xfrm>
            <a:prstGeom prst="roundRect">
              <a:avLst>
                <a:gd name="adj" fmla="val 50000"/>
              </a:avLst>
            </a:prstGeom>
            <a:solidFill>
              <a:srgbClr val="48ca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Google Shape;203;p18"/>
            <p:cNvSpPr/>
            <p:nvPr/>
          </p:nvSpPr>
          <p:spPr>
            <a:xfrm>
              <a:off x="7182000" y="1200240"/>
              <a:ext cx="1485720" cy="799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800" strike="noStrike" u="none">
                  <a:solidFill>
                    <a:srgbClr val="48cae4"/>
                  </a:solidFill>
                  <a:effectLst/>
                  <a:uFillTx/>
                  <a:latin typeface="Roboto Mono Medium"/>
                  <a:ea typeface="Roboto Mono Medium"/>
                </a:rPr>
                <a:t>FINAL OUTPUT</a:t>
              </a:r>
              <a:endParaRPr b="0" lang="en-IN" sz="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50"/>
                </a:spcBef>
                <a:tabLst>
                  <a:tab algn="l" pos="0"/>
                </a:tabLst>
              </a:pPr>
              <a:r>
                <a:rPr b="1" lang="en-GB" sz="1100" strike="noStrike" u="none">
                  <a:solidFill>
                    <a:srgbClr val="ffffff"/>
                  </a:solidFill>
                  <a:effectLst/>
                  <a:uFillTx/>
                  <a:latin typeface="Inter"/>
                  <a:ea typeface="Inter"/>
                </a:rPr>
                <a:t>Clinician Dashboard</a:t>
              </a:r>
              <a:endParaRPr b="0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95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Integrated review &amp; AI insights interface</a:t>
              </a:r>
              <a:endParaRPr b="0" lang="en-IN" sz="9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3" name="Google Shape;204;p18"/>
          <p:cNvGrpSpPr/>
          <p:nvPr/>
        </p:nvGrpSpPr>
        <p:grpSpPr>
          <a:xfrm>
            <a:off x="380880" y="2247840"/>
            <a:ext cx="4000320" cy="2514240"/>
            <a:chOff x="380880" y="2247840"/>
            <a:chExt cx="4000320" cy="2514240"/>
          </a:xfrm>
        </p:grpSpPr>
        <p:sp>
          <p:nvSpPr>
            <p:cNvPr id="164" name="Google Shape;205;p18"/>
            <p:cNvSpPr/>
            <p:nvPr/>
          </p:nvSpPr>
          <p:spPr>
            <a:xfrm>
              <a:off x="380880" y="2247840"/>
              <a:ext cx="4000320" cy="2514240"/>
            </a:xfrm>
            <a:prstGeom prst="roundRect">
              <a:avLst>
                <a:gd name="adj" fmla="val 4545"/>
              </a:avLst>
            </a:prstGeom>
            <a:solidFill>
              <a:srgbClr val="1c2541"/>
            </a:solidFill>
            <a:ln w="9525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Google Shape;206;p18"/>
            <p:cNvSpPr/>
            <p:nvPr/>
          </p:nvSpPr>
          <p:spPr>
            <a:xfrm>
              <a:off x="609480" y="2438280"/>
              <a:ext cx="3543120" cy="21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839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SYSTEM INTEGRATION &amp; OUTPUTS</a:t>
              </a:r>
              <a:endParaRPr b="0" lang="en-IN" sz="839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1200" strike="noStrike" u="none">
                  <a:solidFill>
                    <a:srgbClr val="ffffff"/>
                  </a:solidFill>
                  <a:effectLst/>
                  <a:uFillTx/>
                  <a:latin typeface="Inter Medium"/>
                  <a:ea typeface="Inter Medium"/>
                </a:rPr>
                <a:t>Comprehensive Dashboard Capabilities</a:t>
              </a:r>
              <a:endPara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310680">
                <a:lnSpc>
                  <a:spcPct val="100000"/>
                </a:lnSpc>
                <a:spcBef>
                  <a:spcPts val="901"/>
                </a:spcBef>
                <a:buClr>
                  <a:srgbClr val="000000"/>
                </a:buClr>
                <a:buFont typeface="Arial"/>
                <a:buChar char="●"/>
                <a:tabLst>
                  <a:tab algn="l" pos="0"/>
                </a:tabLst>
              </a:pPr>
              <a:r>
                <a:rPr b="1" lang="en-GB" sz="97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Longitudinal MRI Timeline:</a:t>
              </a:r>
              <a:r>
                <a:rPr b="0" lang="en-GB" sz="97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 Serial brain scan tracking across patient historical visits.</a:t>
              </a:r>
              <a:endParaRPr b="0" lang="en-IN" sz="9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310680">
                <a:lnSpc>
                  <a:spcPct val="100000"/>
                </a:lnSpc>
                <a:spcBef>
                  <a:spcPts val="601"/>
                </a:spcBef>
                <a:buClr>
                  <a:srgbClr val="000000"/>
                </a:buClr>
                <a:buFont typeface="Arial"/>
                <a:buChar char="●"/>
                <a:tabLst>
                  <a:tab algn="l" pos="0"/>
                </a:tabLst>
              </a:pPr>
              <a:r>
                <a:rPr b="1" lang="en-GB" sz="97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Grad-CAM Visualizations:</a:t>
              </a:r>
              <a:r>
                <a:rPr b="0" lang="en-GB" sz="97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 Heatmaps identifying superior frontal gyrus focal degeneration.</a:t>
              </a:r>
              <a:endParaRPr b="0" lang="en-IN" sz="9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310680">
                <a:lnSpc>
                  <a:spcPct val="100000"/>
                </a:lnSpc>
                <a:spcBef>
                  <a:spcPts val="601"/>
                </a:spcBef>
                <a:buClr>
                  <a:srgbClr val="000000"/>
                </a:buClr>
                <a:buFont typeface="Arial"/>
                <a:buChar char="●"/>
                <a:tabLst>
                  <a:tab algn="l" pos="0"/>
                </a:tabLst>
              </a:pPr>
              <a:r>
                <a:rPr b="1" lang="en-GB" sz="97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Risk Trend Curves:</a:t>
              </a:r>
              <a:r>
                <a:rPr b="0" lang="en-GB" sz="97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 Continuous predictive trajectories for neurodegenerative disease.</a:t>
              </a:r>
              <a:endParaRPr b="0" lang="en-IN" sz="9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457200" indent="-310680">
                <a:lnSpc>
                  <a:spcPct val="100000"/>
                </a:lnSpc>
                <a:spcBef>
                  <a:spcPts val="601"/>
                </a:spcBef>
                <a:buClr>
                  <a:srgbClr val="000000"/>
                </a:buClr>
                <a:buFont typeface="Arial"/>
                <a:buChar char="●"/>
                <a:tabLst>
                  <a:tab algn="l" pos="0"/>
                </a:tabLst>
              </a:pPr>
              <a:r>
                <a:rPr b="1" lang="en-GB" sz="97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Actionable AI Insights:</a:t>
              </a:r>
              <a:r>
                <a:rPr b="0" lang="en-GB" sz="970" strike="noStrike" u="non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 Biomarker metrics (atrophy %, lesion volume) for research &amp; clinical review.</a:t>
              </a:r>
              <a:endParaRPr b="0" lang="en-IN" sz="9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6" name="Google Shape;207;p18"/>
          <p:cNvGrpSpPr/>
          <p:nvPr/>
        </p:nvGrpSpPr>
        <p:grpSpPr>
          <a:xfrm>
            <a:off x="4572000" y="2247840"/>
            <a:ext cx="4190760" cy="2514240"/>
            <a:chOff x="4572000" y="2247840"/>
            <a:chExt cx="4190760" cy="2514240"/>
          </a:xfrm>
        </p:grpSpPr>
        <p:sp>
          <p:nvSpPr>
            <p:cNvPr id="167" name="Google Shape;208;p18"/>
            <p:cNvSpPr/>
            <p:nvPr/>
          </p:nvSpPr>
          <p:spPr>
            <a:xfrm>
              <a:off x="4572000" y="2247840"/>
              <a:ext cx="4190760" cy="2514240"/>
            </a:xfrm>
            <a:prstGeom prst="roundRect">
              <a:avLst>
                <a:gd name="adj" fmla="val 4545"/>
              </a:avLst>
            </a:prstGeom>
            <a:solidFill>
              <a:srgbClr val="1c2541"/>
            </a:solidFill>
            <a:ln w="9525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8" name="Google Shape;209;p18" descr=""/>
            <p:cNvPicPr/>
            <p:nvPr/>
          </p:nvPicPr>
          <p:blipFill>
            <a:blip r:embed="rId7"/>
            <a:srcRect l="1916" t="0" r="1916" b="0"/>
            <a:stretch/>
          </p:blipFill>
          <p:spPr>
            <a:xfrm>
              <a:off x="4648320" y="2324160"/>
              <a:ext cx="4038120" cy="23619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214;p19" descr=""/>
          <p:cNvPicPr/>
          <p:nvPr/>
        </p:nvPicPr>
        <p:blipFill>
          <a:blip r:embed="rId1"/>
          <a:stretch/>
        </p:blipFill>
        <p:spPr>
          <a:xfrm>
            <a:off x="0" y="3600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0" name="Google Shape;215;p19"/>
          <p:cNvGrpSpPr/>
          <p:nvPr/>
        </p:nvGrpSpPr>
        <p:grpSpPr>
          <a:xfrm>
            <a:off x="8412480" y="259200"/>
            <a:ext cx="304560" cy="304560"/>
            <a:chOff x="8412480" y="259200"/>
            <a:chExt cx="304560" cy="304560"/>
          </a:xfrm>
        </p:grpSpPr>
        <p:sp>
          <p:nvSpPr>
            <p:cNvPr id="171" name="Google Shape;216;p19"/>
            <p:cNvSpPr/>
            <p:nvPr/>
          </p:nvSpPr>
          <p:spPr>
            <a:xfrm>
              <a:off x="8412480" y="259200"/>
              <a:ext cx="304560" cy="304560"/>
            </a:xfrm>
            <a:prstGeom prst="ellipse">
              <a:avLst/>
            </a:prstGeom>
            <a:noFill/>
            <a:ln w="19050">
              <a:solidFill>
                <a:srgbClr val="00b4d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Google Shape;217;p19"/>
            <p:cNvSpPr/>
            <p:nvPr/>
          </p:nvSpPr>
          <p:spPr>
            <a:xfrm>
              <a:off x="8503920" y="320040"/>
              <a:ext cx="121680" cy="91080"/>
            </a:xfrm>
            <a:custGeom>
              <a:avLst/>
              <a:gdLst>
                <a:gd name="textAreaLeft" fmla="*/ 0 w 121680"/>
                <a:gd name="textAreaRight" fmla="*/ 122040 w 121680"/>
                <a:gd name="textAreaTop" fmla="*/ 0 h 91080"/>
                <a:gd name="textAreaBottom" fmla="*/ 91440 h 91080"/>
              </a:gdLst>
              <a:ahLst/>
              <a:cxnLst/>
              <a:rect l="textAreaLeft" t="textAreaTop" r="textAreaRight" b="textAreaBottom"/>
              <a:pathLst>
                <a:path w="120000" h="120000">
                  <a:moveTo>
                    <a:pt x="0" y="120000"/>
                  </a:moveTo>
                  <a:quadBezTo>
                    <a:pt x="60000" y="0"/>
                    <a:pt x="120000" y="120000"/>
                  </a:quadBezTo>
                  <a:lnTo>
                    <a:pt x="0" y="120000"/>
                  </a:lnTo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Google Shape;218;p19"/>
            <p:cNvSpPr/>
            <p:nvPr/>
          </p:nvSpPr>
          <p:spPr>
            <a:xfrm>
              <a:off x="8481240" y="388800"/>
              <a:ext cx="45360" cy="45360"/>
            </a:xfrm>
            <a:prstGeom prst="ellipse">
              <a:avLst/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Google Shape;219;p19"/>
            <p:cNvSpPr/>
            <p:nvPr/>
          </p:nvSpPr>
          <p:spPr>
            <a:xfrm>
              <a:off x="8602920" y="388800"/>
              <a:ext cx="45360" cy="45360"/>
            </a:xfrm>
            <a:prstGeom prst="ellipse">
              <a:avLst/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Google Shape;220;p19"/>
            <p:cNvSpPr/>
            <p:nvPr/>
          </p:nvSpPr>
          <p:spPr>
            <a:xfrm>
              <a:off x="8549640" y="350640"/>
              <a:ext cx="30240" cy="302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76" name="Google Shape;221;p19" descr=""/>
          <p:cNvPicPr/>
          <p:nvPr/>
        </p:nvPicPr>
        <p:blipFill>
          <a:blip r:embed="rId2"/>
          <a:stretch/>
        </p:blipFill>
        <p:spPr>
          <a:xfrm>
            <a:off x="380880" y="762120"/>
            <a:ext cx="8381520" cy="1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Google Shape;222;p19"/>
          <p:cNvSpPr/>
          <p:nvPr/>
        </p:nvSpPr>
        <p:spPr>
          <a:xfrm>
            <a:off x="380880" y="190440"/>
            <a:ext cx="781020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040" strike="noStrike" u="non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Longitudinal Pattern Analysis Over Static Classification</a:t>
            </a:r>
            <a:endParaRPr b="0" lang="en-IN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8" name="Google Shape;223;p19"/>
          <p:cNvGrpSpPr/>
          <p:nvPr/>
        </p:nvGrpSpPr>
        <p:grpSpPr>
          <a:xfrm>
            <a:off x="380880" y="914400"/>
            <a:ext cx="3524040" cy="4000320"/>
            <a:chOff x="380880" y="914400"/>
            <a:chExt cx="3524040" cy="4000320"/>
          </a:xfrm>
        </p:grpSpPr>
        <p:sp>
          <p:nvSpPr>
            <p:cNvPr id="179" name="Google Shape;224;p19"/>
            <p:cNvSpPr/>
            <p:nvPr/>
          </p:nvSpPr>
          <p:spPr>
            <a:xfrm>
              <a:off x="380880" y="914400"/>
              <a:ext cx="3524040" cy="4000320"/>
            </a:xfrm>
            <a:prstGeom prst="roundRect">
              <a:avLst>
                <a:gd name="adj" fmla="val 3243"/>
              </a:avLst>
            </a:prstGeom>
            <a:solidFill>
              <a:srgbClr val="1c2541"/>
            </a:solidFill>
            <a:ln w="9525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Google Shape;225;p19"/>
            <p:cNvSpPr/>
            <p:nvPr/>
          </p:nvSpPr>
          <p:spPr>
            <a:xfrm>
              <a:off x="533520" y="1047600"/>
              <a:ext cx="321912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spcAft>
                  <a:spcPts val="300"/>
                </a:spcAft>
                <a:tabLst>
                  <a:tab algn="l" pos="0"/>
                </a:tabLst>
              </a:pPr>
              <a:r>
                <a:rPr b="0" lang="en-GB" sz="100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Core Differentiators</a:t>
              </a:r>
              <a:endPara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1" name="Google Shape;226;p19"/>
            <p:cNvGrpSpPr/>
            <p:nvPr/>
          </p:nvGrpSpPr>
          <p:grpSpPr>
            <a:xfrm>
              <a:off x="552600" y="1295280"/>
              <a:ext cx="3200040" cy="647280"/>
              <a:chOff x="552600" y="1295280"/>
              <a:chExt cx="3200040" cy="647280"/>
            </a:xfrm>
          </p:grpSpPr>
          <p:grpSp>
            <p:nvGrpSpPr>
              <p:cNvPr id="182" name="Google Shape;227;p19"/>
              <p:cNvGrpSpPr/>
              <p:nvPr/>
            </p:nvGrpSpPr>
            <p:grpSpPr>
              <a:xfrm>
                <a:off x="552600" y="1333440"/>
                <a:ext cx="151920" cy="151920"/>
                <a:chOff x="552600" y="1333440"/>
                <a:chExt cx="151920" cy="151920"/>
              </a:xfrm>
            </p:grpSpPr>
            <p:sp>
              <p:nvSpPr>
                <p:cNvPr id="183" name="Google Shape;228;p19"/>
                <p:cNvSpPr/>
                <p:nvPr/>
              </p:nvSpPr>
              <p:spPr>
                <a:xfrm>
                  <a:off x="552600" y="1333440"/>
                  <a:ext cx="151920" cy="151920"/>
                </a:xfrm>
                <a:prstGeom prst="ellipse">
                  <a:avLst/>
                </a:prstGeom>
                <a:solidFill>
                  <a:srgbClr val="1c2541"/>
                </a:solidFill>
                <a:ln w="14300">
                  <a:solidFill>
                    <a:srgbClr val="00b4d8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4" name="Google Shape;229;p19"/>
                <p:cNvSpPr/>
                <p:nvPr/>
              </p:nvSpPr>
              <p:spPr>
                <a:xfrm>
                  <a:off x="600120" y="1380960"/>
                  <a:ext cx="56880" cy="56880"/>
                </a:xfrm>
                <a:prstGeom prst="ellipse">
                  <a:avLst/>
                </a:prstGeom>
                <a:solidFill>
                  <a:srgbClr val="00b4d8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85" name="Google Shape;230;p19"/>
              <p:cNvSpPr/>
              <p:nvPr/>
            </p:nvSpPr>
            <p:spPr>
              <a:xfrm>
                <a:off x="781200" y="1295280"/>
                <a:ext cx="2971440" cy="647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200" strike="noStrike" u="none">
                    <a:solidFill>
                      <a:srgbClr val="ffffff"/>
                    </a:solidFill>
                    <a:effectLst/>
                    <a:uFillTx/>
                    <a:latin typeface="Inter SemiBold"/>
                    <a:ea typeface="Inter SemiBold"/>
                  </a:rPr>
                  <a:t>Longitudinal Analysis</a:t>
                </a:r>
                <a:endParaRPr b="0" lang="en-IN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50"/>
                  </a:spcBef>
                  <a:tabLst>
                    <a:tab algn="l" pos="0"/>
                  </a:tabLst>
                </a:pPr>
                <a:r>
                  <a:rPr b="0" lang="en-GB" sz="1050" strike="noStrike" u="none">
                    <a:solidFill>
                      <a:srgbClr val="90e0ef"/>
                    </a:solidFill>
                    <a:effectLst/>
                    <a:uFillTx/>
                    <a:latin typeface="Roboto"/>
                    <a:ea typeface="Roboto"/>
                  </a:rPr>
                  <a:t>Utilizes multiple MRI observations across patient visits instead of isolated snapshots.</a:t>
                </a:r>
                <a:endParaRPr b="0" lang="en-IN" sz="105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6" name="Google Shape;231;p19"/>
            <p:cNvGrpSpPr/>
            <p:nvPr/>
          </p:nvGrpSpPr>
          <p:grpSpPr>
            <a:xfrm>
              <a:off x="552600" y="2000160"/>
              <a:ext cx="3200040" cy="647280"/>
              <a:chOff x="552600" y="2000160"/>
              <a:chExt cx="3200040" cy="647280"/>
            </a:xfrm>
          </p:grpSpPr>
          <p:grpSp>
            <p:nvGrpSpPr>
              <p:cNvPr id="187" name="Google Shape;232;p19"/>
              <p:cNvGrpSpPr/>
              <p:nvPr/>
            </p:nvGrpSpPr>
            <p:grpSpPr>
              <a:xfrm>
                <a:off x="552600" y="2038320"/>
                <a:ext cx="151920" cy="151920"/>
                <a:chOff x="552600" y="2038320"/>
                <a:chExt cx="151920" cy="151920"/>
              </a:xfrm>
            </p:grpSpPr>
            <p:sp>
              <p:nvSpPr>
                <p:cNvPr id="188" name="Google Shape;233;p19"/>
                <p:cNvSpPr/>
                <p:nvPr/>
              </p:nvSpPr>
              <p:spPr>
                <a:xfrm>
                  <a:off x="552600" y="2038320"/>
                  <a:ext cx="151920" cy="151920"/>
                </a:xfrm>
                <a:prstGeom prst="ellipse">
                  <a:avLst/>
                </a:prstGeom>
                <a:solidFill>
                  <a:srgbClr val="1c2541"/>
                </a:solidFill>
                <a:ln w="14300">
                  <a:solidFill>
                    <a:srgbClr val="00b4d8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89" name="Google Shape;234;p19"/>
                <p:cNvSpPr/>
                <p:nvPr/>
              </p:nvSpPr>
              <p:spPr>
                <a:xfrm>
                  <a:off x="600120" y="2085840"/>
                  <a:ext cx="56880" cy="56880"/>
                </a:xfrm>
                <a:prstGeom prst="ellipse">
                  <a:avLst/>
                </a:prstGeom>
                <a:solidFill>
                  <a:srgbClr val="00b4d8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90" name="Google Shape;235;p19"/>
              <p:cNvSpPr/>
              <p:nvPr/>
            </p:nvSpPr>
            <p:spPr>
              <a:xfrm>
                <a:off x="781200" y="2000160"/>
                <a:ext cx="2971440" cy="647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200" strike="noStrike" u="none">
                    <a:solidFill>
                      <a:srgbClr val="ffffff"/>
                    </a:solidFill>
                    <a:effectLst/>
                    <a:uFillTx/>
                    <a:latin typeface="Inter SemiBold"/>
                    <a:ea typeface="Inter SemiBold"/>
                  </a:rPr>
                  <a:t>Temporal AI</a:t>
                </a:r>
                <a:endParaRPr b="0" lang="en-IN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50"/>
                  </a:spcBef>
                  <a:tabLst>
                    <a:tab algn="l" pos="0"/>
                  </a:tabLst>
                </a:pPr>
                <a:r>
                  <a:rPr b="0" lang="en-GB" sz="1050" strike="noStrike" u="none">
                    <a:solidFill>
                      <a:srgbClr val="90e0ef"/>
                    </a:solidFill>
                    <a:effectLst/>
                    <a:uFillTx/>
                    <a:latin typeface="Roboto"/>
                    <a:ea typeface="Roboto"/>
                  </a:rPr>
                  <a:t>Models how extracted structural features evolve dynamically over time.</a:t>
                </a:r>
                <a:endParaRPr b="0" lang="en-IN" sz="105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1" name="Google Shape;236;p19"/>
            <p:cNvGrpSpPr/>
            <p:nvPr/>
          </p:nvGrpSpPr>
          <p:grpSpPr>
            <a:xfrm>
              <a:off x="552600" y="2705040"/>
              <a:ext cx="3200040" cy="647280"/>
              <a:chOff x="552600" y="2705040"/>
              <a:chExt cx="3200040" cy="647280"/>
            </a:xfrm>
          </p:grpSpPr>
          <p:grpSp>
            <p:nvGrpSpPr>
              <p:cNvPr id="192" name="Google Shape;237;p19"/>
              <p:cNvGrpSpPr/>
              <p:nvPr/>
            </p:nvGrpSpPr>
            <p:grpSpPr>
              <a:xfrm>
                <a:off x="552600" y="2743200"/>
                <a:ext cx="151920" cy="151920"/>
                <a:chOff x="552600" y="2743200"/>
                <a:chExt cx="151920" cy="151920"/>
              </a:xfrm>
            </p:grpSpPr>
            <p:sp>
              <p:nvSpPr>
                <p:cNvPr id="193" name="Google Shape;238;p19"/>
                <p:cNvSpPr/>
                <p:nvPr/>
              </p:nvSpPr>
              <p:spPr>
                <a:xfrm>
                  <a:off x="552600" y="2743200"/>
                  <a:ext cx="151920" cy="151920"/>
                </a:xfrm>
                <a:prstGeom prst="ellipse">
                  <a:avLst/>
                </a:prstGeom>
                <a:solidFill>
                  <a:srgbClr val="1c2541"/>
                </a:solidFill>
                <a:ln w="14300">
                  <a:solidFill>
                    <a:srgbClr val="00b4d8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4" name="Google Shape;239;p19"/>
                <p:cNvSpPr/>
                <p:nvPr/>
              </p:nvSpPr>
              <p:spPr>
                <a:xfrm>
                  <a:off x="600120" y="2790720"/>
                  <a:ext cx="56880" cy="56880"/>
                </a:xfrm>
                <a:prstGeom prst="ellipse">
                  <a:avLst/>
                </a:prstGeom>
                <a:solidFill>
                  <a:srgbClr val="00b4d8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95" name="Google Shape;240;p19"/>
              <p:cNvSpPr/>
              <p:nvPr/>
            </p:nvSpPr>
            <p:spPr>
              <a:xfrm>
                <a:off x="781200" y="2705040"/>
                <a:ext cx="2971440" cy="647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200" strike="noStrike" u="none">
                    <a:solidFill>
                      <a:srgbClr val="ffffff"/>
                    </a:solidFill>
                    <a:effectLst/>
                    <a:uFillTx/>
                    <a:latin typeface="Inter SemiBold"/>
                    <a:ea typeface="Inter SemiBold"/>
                  </a:rPr>
                  <a:t>Progression Output</a:t>
                </a:r>
                <a:endParaRPr b="0" lang="en-IN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50"/>
                  </a:spcBef>
                  <a:tabLst>
                    <a:tab algn="l" pos="0"/>
                  </a:tabLst>
                </a:pPr>
                <a:r>
                  <a:rPr b="0" lang="en-GB" sz="1050" strike="noStrike" u="none">
                    <a:solidFill>
                      <a:srgbClr val="90e0ef"/>
                    </a:solidFill>
                    <a:effectLst/>
                    <a:uFillTx/>
                    <a:latin typeface="Roboto"/>
                    <a:ea typeface="Roboto"/>
                  </a:rPr>
                  <a:t>Estimates a continuous progression risk trajectory rather than static binary outputs.</a:t>
                </a:r>
                <a:endParaRPr b="0" lang="en-IN" sz="105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6" name="Google Shape;241;p19"/>
            <p:cNvGrpSpPr/>
            <p:nvPr/>
          </p:nvGrpSpPr>
          <p:grpSpPr>
            <a:xfrm>
              <a:off x="552600" y="3409920"/>
              <a:ext cx="3200040" cy="647280"/>
              <a:chOff x="552600" y="3409920"/>
              <a:chExt cx="3200040" cy="647280"/>
            </a:xfrm>
          </p:grpSpPr>
          <p:grpSp>
            <p:nvGrpSpPr>
              <p:cNvPr id="197" name="Google Shape;242;p19"/>
              <p:cNvGrpSpPr/>
              <p:nvPr/>
            </p:nvGrpSpPr>
            <p:grpSpPr>
              <a:xfrm>
                <a:off x="552600" y="3448080"/>
                <a:ext cx="151920" cy="151920"/>
                <a:chOff x="552600" y="3448080"/>
                <a:chExt cx="151920" cy="151920"/>
              </a:xfrm>
            </p:grpSpPr>
            <p:sp>
              <p:nvSpPr>
                <p:cNvPr id="198" name="Google Shape;243;p19"/>
                <p:cNvSpPr/>
                <p:nvPr/>
              </p:nvSpPr>
              <p:spPr>
                <a:xfrm>
                  <a:off x="552600" y="3448080"/>
                  <a:ext cx="151920" cy="151920"/>
                </a:xfrm>
                <a:prstGeom prst="ellipse">
                  <a:avLst/>
                </a:prstGeom>
                <a:solidFill>
                  <a:srgbClr val="1c2541"/>
                </a:solidFill>
                <a:ln w="14300">
                  <a:solidFill>
                    <a:srgbClr val="00b4d8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99" name="Google Shape;244;p19"/>
                <p:cNvSpPr/>
                <p:nvPr/>
              </p:nvSpPr>
              <p:spPr>
                <a:xfrm>
                  <a:off x="600120" y="3495600"/>
                  <a:ext cx="56880" cy="56880"/>
                </a:xfrm>
                <a:prstGeom prst="ellipse">
                  <a:avLst/>
                </a:prstGeom>
                <a:solidFill>
                  <a:srgbClr val="00b4d8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200" name="Google Shape;245;p19"/>
              <p:cNvSpPr/>
              <p:nvPr/>
            </p:nvSpPr>
            <p:spPr>
              <a:xfrm>
                <a:off x="781200" y="3409920"/>
                <a:ext cx="2971440" cy="647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200" strike="noStrike" u="none">
                    <a:solidFill>
                      <a:srgbClr val="ffffff"/>
                    </a:solidFill>
                    <a:effectLst/>
                    <a:uFillTx/>
                    <a:latin typeface="Inter SemiBold"/>
                    <a:ea typeface="Inter SemiBold"/>
                  </a:rPr>
                  <a:t>Explainable AI (Grad-CAM)</a:t>
                </a:r>
                <a:endParaRPr b="0" lang="en-IN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50"/>
                  </a:spcBef>
                  <a:tabLst>
                    <a:tab algn="l" pos="0"/>
                  </a:tabLst>
                </a:pPr>
                <a:r>
                  <a:rPr b="0" lang="en-GB" sz="1050" strike="noStrike" u="none">
                    <a:solidFill>
                      <a:srgbClr val="90e0ef"/>
                    </a:solidFill>
                    <a:effectLst/>
                    <a:uFillTx/>
                    <a:latin typeface="Roboto"/>
                    <a:ea typeface="Roboto"/>
                  </a:rPr>
                  <a:t>Integrates region-of-interest visualizations to highlight critical disease markers.</a:t>
                </a:r>
                <a:endParaRPr b="0" lang="en-IN" sz="105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1" name="Google Shape;246;p19"/>
            <p:cNvGrpSpPr/>
            <p:nvPr/>
          </p:nvGrpSpPr>
          <p:grpSpPr>
            <a:xfrm>
              <a:off x="552600" y="4114800"/>
              <a:ext cx="3200040" cy="647280"/>
              <a:chOff x="552600" y="4114800"/>
              <a:chExt cx="3200040" cy="647280"/>
            </a:xfrm>
          </p:grpSpPr>
          <p:grpSp>
            <p:nvGrpSpPr>
              <p:cNvPr id="202" name="Google Shape;247;p19"/>
              <p:cNvGrpSpPr/>
              <p:nvPr/>
            </p:nvGrpSpPr>
            <p:grpSpPr>
              <a:xfrm>
                <a:off x="552600" y="4152960"/>
                <a:ext cx="151920" cy="151920"/>
                <a:chOff x="552600" y="4152960"/>
                <a:chExt cx="151920" cy="151920"/>
              </a:xfrm>
            </p:grpSpPr>
            <p:sp>
              <p:nvSpPr>
                <p:cNvPr id="203" name="Google Shape;248;p19"/>
                <p:cNvSpPr/>
                <p:nvPr/>
              </p:nvSpPr>
              <p:spPr>
                <a:xfrm>
                  <a:off x="552600" y="4152960"/>
                  <a:ext cx="151920" cy="151920"/>
                </a:xfrm>
                <a:prstGeom prst="ellipse">
                  <a:avLst/>
                </a:prstGeom>
                <a:solidFill>
                  <a:srgbClr val="1c2541"/>
                </a:solidFill>
                <a:ln w="14300">
                  <a:solidFill>
                    <a:srgbClr val="00b4d8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04" name="Google Shape;249;p19"/>
                <p:cNvSpPr/>
                <p:nvPr/>
              </p:nvSpPr>
              <p:spPr>
                <a:xfrm>
                  <a:off x="600120" y="4200480"/>
                  <a:ext cx="56880" cy="56880"/>
                </a:xfrm>
                <a:prstGeom prst="ellipse">
                  <a:avLst/>
                </a:prstGeom>
                <a:solidFill>
                  <a:srgbClr val="00b4d8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205" name="Google Shape;250;p19"/>
              <p:cNvSpPr/>
              <p:nvPr/>
            </p:nvSpPr>
            <p:spPr>
              <a:xfrm>
                <a:off x="781200" y="4114800"/>
                <a:ext cx="2971440" cy="647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200" strike="noStrike" u="none">
                    <a:solidFill>
                      <a:srgbClr val="ffffff"/>
                    </a:solidFill>
                    <a:effectLst/>
                    <a:uFillTx/>
                    <a:latin typeface="Inter SemiBold"/>
                    <a:ea typeface="Inter SemiBold"/>
                  </a:rPr>
                  <a:t>Trajectory View</a:t>
                </a:r>
                <a:endParaRPr b="0" lang="en-IN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50"/>
                  </a:spcBef>
                  <a:tabLst>
                    <a:tab algn="l" pos="0"/>
                  </a:tabLst>
                </a:pPr>
                <a:r>
                  <a:rPr b="0" lang="en-GB" sz="1050" strike="noStrike" u="none">
                    <a:solidFill>
                      <a:srgbClr val="90e0ef"/>
                    </a:solidFill>
                    <a:effectLst/>
                    <a:uFillTx/>
                    <a:latin typeface="Roboto"/>
                    <a:ea typeface="Roboto"/>
                  </a:rPr>
                  <a:t>Provides clinicians with an intuitive, transparent, and actionable risk trend over time.</a:t>
                </a:r>
                <a:endParaRPr b="0" lang="en-IN" sz="105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06" name="Google Shape;251;p19"/>
          <p:cNvGrpSpPr/>
          <p:nvPr/>
        </p:nvGrpSpPr>
        <p:grpSpPr>
          <a:xfrm>
            <a:off x="4133880" y="914400"/>
            <a:ext cx="4628880" cy="4000320"/>
            <a:chOff x="4133880" y="914400"/>
            <a:chExt cx="4628880" cy="4000320"/>
          </a:xfrm>
        </p:grpSpPr>
        <p:grpSp>
          <p:nvGrpSpPr>
            <p:cNvPr id="207" name="Google Shape;252;p19"/>
            <p:cNvGrpSpPr/>
            <p:nvPr/>
          </p:nvGrpSpPr>
          <p:grpSpPr>
            <a:xfrm>
              <a:off x="4133880" y="914400"/>
              <a:ext cx="4628880" cy="1428480"/>
              <a:chOff x="4133880" y="914400"/>
              <a:chExt cx="4628880" cy="1428480"/>
            </a:xfrm>
          </p:grpSpPr>
          <p:sp>
            <p:nvSpPr>
              <p:cNvPr id="208" name="Google Shape;253;p19"/>
              <p:cNvSpPr/>
              <p:nvPr/>
            </p:nvSpPr>
            <p:spPr>
              <a:xfrm>
                <a:off x="4133880" y="914400"/>
                <a:ext cx="4628880" cy="1428480"/>
              </a:xfrm>
              <a:prstGeom prst="roundRect">
                <a:avLst>
                  <a:gd name="adj" fmla="val 8000"/>
                </a:avLst>
              </a:prstGeom>
              <a:solidFill>
                <a:srgbClr val="1c2541"/>
              </a:solidFill>
              <a:ln w="9525">
                <a:solidFill>
                  <a:srgbClr val="3a50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Google Shape;254;p19"/>
              <p:cNvSpPr/>
              <p:nvPr/>
            </p:nvSpPr>
            <p:spPr>
              <a:xfrm>
                <a:off x="4324320" y="1047600"/>
                <a:ext cx="4248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700" strike="noStrike" u="none">
                    <a:solidFill>
                      <a:srgbClr val="90e0ef"/>
                    </a:solidFill>
                    <a:effectLst/>
                    <a:uFillTx/>
                    <a:latin typeface="Roboto Mono Medium"/>
                    <a:ea typeface="Roboto Mono Medium"/>
                  </a:rPr>
                  <a:t>Conventional Approach</a:t>
                </a:r>
                <a:endParaRPr b="0" lang="en-IN" sz="7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  <a:spcAft>
                    <a:spcPts val="451"/>
                  </a:spcAft>
                  <a:tabLst>
                    <a:tab algn="l" pos="0"/>
                  </a:tabLst>
                </a:pPr>
                <a:r>
                  <a:rPr b="0" lang="en-GB" sz="839" strike="noStrike" u="none">
                    <a:solidFill>
                      <a:srgbClr val="ffffff"/>
                    </a:solidFill>
                    <a:effectLst/>
                    <a:uFillTx/>
                    <a:latin typeface="Inter SemiBold"/>
                    <a:ea typeface="Inter SemiBold"/>
                  </a:rPr>
                  <a:t>Single-Scan Static Classification</a:t>
                </a:r>
                <a:endParaRPr b="0" lang="en-IN" sz="839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10" name="Google Shape;255;p19"/>
              <p:cNvGrpSpPr/>
              <p:nvPr/>
            </p:nvGrpSpPr>
            <p:grpSpPr>
              <a:xfrm>
                <a:off x="4324320" y="1504800"/>
                <a:ext cx="4248000" cy="571320"/>
                <a:chOff x="4324320" y="1504800"/>
                <a:chExt cx="4248000" cy="571320"/>
              </a:xfrm>
            </p:grpSpPr>
            <p:sp>
              <p:nvSpPr>
                <p:cNvPr id="211" name="Google Shape;256;p19"/>
                <p:cNvSpPr/>
                <p:nvPr/>
              </p:nvSpPr>
              <p:spPr>
                <a:xfrm>
                  <a:off x="4324320" y="1504800"/>
                  <a:ext cx="761760" cy="57132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2a3659"/>
                </a:solidFill>
                <a:ln w="9525">
                  <a:solidFill>
                    <a:srgbClr val="3a506b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2" name="Google Shape;257;p19"/>
                <p:cNvSpPr/>
                <p:nvPr/>
              </p:nvSpPr>
              <p:spPr>
                <a:xfrm>
                  <a:off x="4440600" y="1703160"/>
                  <a:ext cx="529560" cy="1382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GB" sz="670" strike="noStrike" u="none">
                      <a:solidFill>
                        <a:srgbClr val="90e0ef"/>
                      </a:solidFill>
                      <a:effectLst/>
                      <a:uFillTx/>
                      <a:latin typeface="Roboto Mono"/>
                      <a:ea typeface="Roboto Mono"/>
                    </a:rPr>
                    <a:t>Single MRI</a:t>
                  </a:r>
                  <a:endParaRPr b="0" lang="en-IN" sz="67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3" name="Google Shape;258;p19"/>
                <p:cNvSpPr/>
                <p:nvPr/>
              </p:nvSpPr>
              <p:spPr>
                <a:xfrm>
                  <a:off x="4540680" y="1843920"/>
                  <a:ext cx="329400" cy="123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GB" sz="600" strike="noStrike" u="none">
                      <a:solidFill>
                        <a:srgbClr val="90e0ef"/>
                      </a:solidFill>
                      <a:effectLst/>
                      <a:uFillTx/>
                      <a:latin typeface="Roboto Mono"/>
                      <a:ea typeface="Roboto Mono"/>
                    </a:rPr>
                    <a:t>Visit 1</a:t>
                  </a:r>
                  <a:endParaRPr b="0" lang="en-IN" sz="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pic>
              <p:nvPicPr>
                <p:cNvPr id="214" name="Google Shape;259;p19" descr=""/>
                <p:cNvPicPr/>
                <p:nvPr/>
              </p:nvPicPr>
              <p:blipFill>
                <a:blip r:embed="rId3"/>
                <a:stretch/>
              </p:blipFill>
              <p:spPr>
                <a:xfrm>
                  <a:off x="5229360" y="1781280"/>
                  <a:ext cx="552240" cy="1872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sp>
              <p:nvSpPr>
                <p:cNvPr id="215" name="Google Shape;260;p19"/>
                <p:cNvSpPr/>
                <p:nvPr/>
              </p:nvSpPr>
              <p:spPr>
                <a:xfrm>
                  <a:off x="5800680" y="1752480"/>
                  <a:ext cx="75960" cy="75960"/>
                </a:xfrm>
                <a:custGeom>
                  <a:avLst/>
                  <a:gdLst>
                    <a:gd name="textAreaLeft" fmla="*/ 0 w 75960"/>
                    <a:gd name="textAreaRight" fmla="*/ 76320 w 75960"/>
                    <a:gd name="textAreaTop" fmla="*/ 0 h 75960"/>
                    <a:gd name="textAreaBottom" fmla="*/ 76320 h 75960"/>
                  </a:gdLst>
                  <a:ahLst/>
                  <a:cxnLst/>
                  <a:rect l="textAreaLeft" t="textAreaTop" r="textAreaRight" b="textAreaBottom"/>
                  <a:pathLst>
                    <a:path w="120000" h="120000">
                      <a:moveTo>
                        <a:pt x="0" y="0"/>
                      </a:moveTo>
                      <a:lnTo>
                        <a:pt x="120000" y="6000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3a506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6" name="Google Shape;261;p19"/>
                <p:cNvSpPr/>
                <p:nvPr/>
              </p:nvSpPr>
              <p:spPr>
                <a:xfrm>
                  <a:off x="5943600" y="1504800"/>
                  <a:ext cx="952200" cy="57132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0b132b"/>
                </a:solidFill>
                <a:ln w="9525">
                  <a:solidFill>
                    <a:srgbClr val="3a506b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7" name="Google Shape;262;p19"/>
                <p:cNvSpPr/>
                <p:nvPr/>
              </p:nvSpPr>
              <p:spPr>
                <a:xfrm>
                  <a:off x="6066720" y="1695600"/>
                  <a:ext cx="706320" cy="1537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GB" sz="750" strike="noStrike" u="none">
                      <a:solidFill>
                        <a:srgbClr val="ffffff"/>
                      </a:solidFill>
                      <a:effectLst/>
                      <a:uFillTx/>
                      <a:latin typeface="Roboto"/>
                      <a:ea typeface="Roboto"/>
                    </a:rPr>
                    <a:t>Static Model</a:t>
                  </a:r>
                  <a:endParaRPr b="0" lang="en-IN" sz="75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8" name="Google Shape;263;p19"/>
                <p:cNvSpPr/>
                <p:nvPr/>
              </p:nvSpPr>
              <p:spPr>
                <a:xfrm>
                  <a:off x="5972400" y="1843920"/>
                  <a:ext cx="894240" cy="1231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GB" sz="600" strike="noStrike" u="none">
                      <a:solidFill>
                        <a:srgbClr val="90e0ef"/>
                      </a:solidFill>
                      <a:effectLst/>
                      <a:uFillTx/>
                      <a:latin typeface="Roboto Mono"/>
                      <a:ea typeface="Roboto Mono"/>
                    </a:rPr>
                    <a:t>No Temporal Context</a:t>
                  </a:r>
                  <a:endParaRPr b="0" lang="en-IN" sz="6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9" name="Google Shape;264;p19"/>
                <p:cNvSpPr/>
                <p:nvPr/>
              </p:nvSpPr>
              <p:spPr>
                <a:xfrm>
                  <a:off x="7039080" y="1752480"/>
                  <a:ext cx="75960" cy="75960"/>
                </a:xfrm>
                <a:custGeom>
                  <a:avLst/>
                  <a:gdLst>
                    <a:gd name="textAreaLeft" fmla="*/ 0 w 75960"/>
                    <a:gd name="textAreaRight" fmla="*/ 76320 w 75960"/>
                    <a:gd name="textAreaTop" fmla="*/ 0 h 75960"/>
                    <a:gd name="textAreaBottom" fmla="*/ 76320 h 75960"/>
                  </a:gdLst>
                  <a:ahLst/>
                  <a:cxnLst/>
                  <a:rect l="textAreaLeft" t="textAreaTop" r="textAreaRight" b="textAreaBottom"/>
                  <a:pathLst>
                    <a:path w="120000" h="120000">
                      <a:moveTo>
                        <a:pt x="0" y="0"/>
                      </a:moveTo>
                      <a:lnTo>
                        <a:pt x="120000" y="6000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3a506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0" name="Google Shape;265;p19"/>
                <p:cNvSpPr/>
                <p:nvPr/>
              </p:nvSpPr>
              <p:spPr>
                <a:xfrm>
                  <a:off x="6943680" y="1790640"/>
                  <a:ext cx="114120" cy="360"/>
                </a:xfrm>
                <a:custGeom>
                  <a:avLst/>
                  <a:gdLst>
                    <a:gd name="textAreaLeft" fmla="*/ 0 w 114120"/>
                    <a:gd name="textAreaRight" fmla="*/ 114480 w 114120"/>
                    <a:gd name="textAreaTop" fmla="*/ 0 h 360"/>
                    <a:gd name="textAreaBottom" fmla="*/ 720 h 360"/>
                  </a:gdLst>
                  <a:ahLst/>
                  <a:cxnLst/>
                  <a:rect l="textAreaLeft" t="textAreaTop" r="textAreaRight" b="textAreaBottom"/>
                  <a:pathLst>
                    <a:path fill="none" w="120000" h="120000">
                      <a:moveTo>
                        <a:pt x="0" y="0"/>
                      </a:moveTo>
                      <a:lnTo>
                        <a:pt x="120000" y="0"/>
                      </a:lnTo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3a506b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1" name="Google Shape;266;p19"/>
                <p:cNvSpPr/>
                <p:nvPr/>
              </p:nvSpPr>
              <p:spPr>
                <a:xfrm>
                  <a:off x="7182000" y="1504800"/>
                  <a:ext cx="1390320" cy="57132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2a3659"/>
                </a:solidFill>
                <a:ln w="9525">
                  <a:solidFill>
                    <a:srgbClr val="3a506b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2" name="Google Shape;267;p19"/>
                <p:cNvSpPr/>
                <p:nvPr/>
              </p:nvSpPr>
              <p:spPr>
                <a:xfrm>
                  <a:off x="7494480" y="1657440"/>
                  <a:ext cx="765000" cy="1537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GB" sz="750" strike="noStrike" u="none">
                      <a:solidFill>
                        <a:srgbClr val="ff5a5f"/>
                      </a:solidFill>
                      <a:effectLst/>
                      <a:uFillTx/>
                      <a:latin typeface="Inter SemiBold"/>
                      <a:ea typeface="Inter SemiBold"/>
                    </a:rPr>
                    <a:t>Binary Output</a:t>
                  </a:r>
                  <a:endParaRPr b="0" lang="en-IN" sz="75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3" name="Google Shape;268;p19"/>
                <p:cNvSpPr/>
                <p:nvPr/>
              </p:nvSpPr>
              <p:spPr>
                <a:xfrm>
                  <a:off x="7479720" y="1836360"/>
                  <a:ext cx="794520" cy="1382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GB" sz="670" strike="noStrike" u="none">
                      <a:solidFill>
                        <a:srgbClr val="ffffff"/>
                      </a:solidFill>
                      <a:effectLst/>
                      <a:uFillTx/>
                      <a:latin typeface="Roboto"/>
                      <a:ea typeface="Roboto"/>
                    </a:rPr>
                    <a:t>High / Low Risk</a:t>
                  </a:r>
                  <a:endParaRPr b="0" lang="en-IN" sz="67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24" name="Google Shape;269;p19"/>
            <p:cNvGrpSpPr/>
            <p:nvPr/>
          </p:nvGrpSpPr>
          <p:grpSpPr>
            <a:xfrm>
              <a:off x="4133880" y="2495520"/>
              <a:ext cx="4628880" cy="2419200"/>
              <a:chOff x="4133880" y="2495520"/>
              <a:chExt cx="4628880" cy="2419200"/>
            </a:xfrm>
          </p:grpSpPr>
          <p:sp>
            <p:nvSpPr>
              <p:cNvPr id="225" name="Google Shape;270;p19"/>
              <p:cNvSpPr/>
              <p:nvPr/>
            </p:nvSpPr>
            <p:spPr>
              <a:xfrm>
                <a:off x="4133880" y="2495520"/>
                <a:ext cx="4628880" cy="2419200"/>
              </a:xfrm>
              <a:prstGeom prst="roundRect">
                <a:avLst>
                  <a:gd name="adj" fmla="val 4724"/>
                </a:avLst>
              </a:prstGeom>
              <a:solidFill>
                <a:srgbClr val="1c2541"/>
              </a:solidFill>
              <a:ln w="14300">
                <a:solidFill>
                  <a:srgbClr val="00b4d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Google Shape;271;p19"/>
              <p:cNvSpPr/>
              <p:nvPr/>
            </p:nvSpPr>
            <p:spPr>
              <a:xfrm>
                <a:off x="4324320" y="2629080"/>
                <a:ext cx="4248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700" strike="noStrike" u="none">
                    <a:solidFill>
                      <a:srgbClr val="00b4d8"/>
                    </a:solidFill>
                    <a:effectLst/>
                    <a:uFillTx/>
                    <a:latin typeface="Roboto Mono Medium"/>
                    <a:ea typeface="Roboto Mono Medium"/>
                  </a:rPr>
                  <a:t>NeuroPredict AI Paradigm</a:t>
                </a:r>
                <a:endParaRPr b="0" lang="en-IN" sz="7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  <a:spcAft>
                    <a:spcPts val="451"/>
                  </a:spcAft>
                  <a:tabLst>
                    <a:tab algn="l" pos="0"/>
                  </a:tabLst>
                </a:pPr>
                <a:r>
                  <a:rPr b="0" lang="en-GB" sz="910" strike="noStrike" u="none">
                    <a:solidFill>
                      <a:srgbClr val="ffffff"/>
                    </a:solidFill>
                    <a:effectLst/>
                    <a:uFillTx/>
                    <a:latin typeface="Inter SemiBold"/>
                    <a:ea typeface="Inter SemiBold"/>
                  </a:rPr>
                  <a:t>Multi-Visit Continuous Trajectory &amp; Grad-CAM XAI</a:t>
                </a:r>
                <a:endParaRPr b="0" lang="en-IN" sz="91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227" name="Google Shape;272;p19"/>
              <p:cNvGrpSpPr/>
              <p:nvPr/>
            </p:nvGrpSpPr>
            <p:grpSpPr>
              <a:xfrm>
                <a:off x="4324320" y="2990880"/>
                <a:ext cx="4248000" cy="1790640"/>
                <a:chOff x="4324320" y="2990880"/>
                <a:chExt cx="4248000" cy="1790640"/>
              </a:xfrm>
            </p:grpSpPr>
            <p:grpSp>
              <p:nvGrpSpPr>
                <p:cNvPr id="228" name="Google Shape;273;p19"/>
                <p:cNvGrpSpPr/>
                <p:nvPr/>
              </p:nvGrpSpPr>
              <p:grpSpPr>
                <a:xfrm>
                  <a:off x="4324320" y="2990880"/>
                  <a:ext cx="571320" cy="1352520"/>
                  <a:chOff x="4324320" y="2990880"/>
                  <a:chExt cx="571320" cy="1352520"/>
                </a:xfrm>
              </p:grpSpPr>
              <p:sp>
                <p:nvSpPr>
                  <p:cNvPr id="229" name="Google Shape;274;p19"/>
                  <p:cNvSpPr/>
                  <p:nvPr/>
                </p:nvSpPr>
                <p:spPr>
                  <a:xfrm>
                    <a:off x="4324320" y="2990880"/>
                    <a:ext cx="571320" cy="399960"/>
                  </a:xfrm>
                  <a:prstGeom prst="roundRect">
                    <a:avLst>
                      <a:gd name="adj" fmla="val 9523"/>
                    </a:avLst>
                  </a:prstGeom>
                  <a:solidFill>
                    <a:srgbClr val="2a3659"/>
                  </a:solidFill>
                  <a:ln w="9525">
                    <a:solidFill>
                      <a:srgbClr val="00b4d8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IN" sz="1400" strike="noStrike" u="non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30" name="Google Shape;275;p19"/>
                  <p:cNvSpPr/>
                  <p:nvPr/>
                </p:nvSpPr>
                <p:spPr>
                  <a:xfrm>
                    <a:off x="4492440" y="3139560"/>
                    <a:ext cx="235080" cy="1231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 algn="ctr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r>
                      <a:rPr b="0" lang="en-GB" sz="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 Mono"/>
                        <a:ea typeface="Roboto Mono"/>
                      </a:rPr>
                      <a:t>MRI 1</a:t>
                    </a:r>
                    <a:endParaRPr b="0" lang="en-IN" sz="6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31" name="Google Shape;276;p19"/>
                  <p:cNvSpPr/>
                  <p:nvPr/>
                </p:nvSpPr>
                <p:spPr>
                  <a:xfrm>
                    <a:off x="4507200" y="3261240"/>
                    <a:ext cx="205920" cy="1076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 algn="ctr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r>
                      <a:rPr b="0" lang="en-GB" sz="520" strike="noStrike" u="none">
                        <a:solidFill>
                          <a:srgbClr val="90e0ef"/>
                        </a:solidFill>
                        <a:effectLst/>
                        <a:uFillTx/>
                        <a:latin typeface="Roboto Mono"/>
                        <a:ea typeface="Roboto Mono"/>
                      </a:rPr>
                      <a:t>t = 0</a:t>
                    </a:r>
                    <a:endParaRPr b="0" lang="en-IN" sz="52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32" name="Google Shape;277;p19"/>
                  <p:cNvSpPr/>
                  <p:nvPr/>
                </p:nvSpPr>
                <p:spPr>
                  <a:xfrm>
                    <a:off x="4324320" y="3467160"/>
                    <a:ext cx="571320" cy="399960"/>
                  </a:xfrm>
                  <a:prstGeom prst="roundRect">
                    <a:avLst>
                      <a:gd name="adj" fmla="val 9523"/>
                    </a:avLst>
                  </a:prstGeom>
                  <a:solidFill>
                    <a:srgbClr val="2a3659"/>
                  </a:solidFill>
                  <a:ln w="9525">
                    <a:solidFill>
                      <a:srgbClr val="00b4d8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IN" sz="1400" strike="noStrike" u="non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33" name="Google Shape;278;p19"/>
                  <p:cNvSpPr/>
                  <p:nvPr/>
                </p:nvSpPr>
                <p:spPr>
                  <a:xfrm>
                    <a:off x="4492440" y="3615840"/>
                    <a:ext cx="235080" cy="1231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 algn="ctr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r>
                      <a:rPr b="0" lang="en-GB" sz="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 Mono"/>
                        <a:ea typeface="Roboto Mono"/>
                      </a:rPr>
                      <a:t>MRI 2</a:t>
                    </a:r>
                    <a:endParaRPr b="0" lang="en-IN" sz="6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34" name="Google Shape;279;p19"/>
                  <p:cNvSpPr/>
                  <p:nvPr/>
                </p:nvSpPr>
                <p:spPr>
                  <a:xfrm>
                    <a:off x="4465800" y="3737520"/>
                    <a:ext cx="288000" cy="1076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 algn="ctr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r>
                      <a:rPr b="0" lang="en-GB" sz="520" strike="noStrike" u="none">
                        <a:solidFill>
                          <a:srgbClr val="90e0ef"/>
                        </a:solidFill>
                        <a:effectLst/>
                        <a:uFillTx/>
                        <a:latin typeface="Roboto Mono"/>
                        <a:ea typeface="Roboto Mono"/>
                      </a:rPr>
                      <a:t>t = +6m</a:t>
                    </a:r>
                    <a:endParaRPr b="0" lang="en-IN" sz="52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35" name="Google Shape;280;p19"/>
                  <p:cNvSpPr/>
                  <p:nvPr/>
                </p:nvSpPr>
                <p:spPr>
                  <a:xfrm>
                    <a:off x="4324320" y="3943440"/>
                    <a:ext cx="571320" cy="399960"/>
                  </a:xfrm>
                  <a:prstGeom prst="roundRect">
                    <a:avLst>
                      <a:gd name="adj" fmla="val 9523"/>
                    </a:avLst>
                  </a:prstGeom>
                  <a:solidFill>
                    <a:srgbClr val="2a3659"/>
                  </a:solidFill>
                  <a:ln w="9525">
                    <a:solidFill>
                      <a:srgbClr val="00b4d8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IN" sz="1400" strike="noStrike" u="non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36" name="Google Shape;281;p19"/>
                  <p:cNvSpPr/>
                  <p:nvPr/>
                </p:nvSpPr>
                <p:spPr>
                  <a:xfrm>
                    <a:off x="4492440" y="4092120"/>
                    <a:ext cx="235080" cy="1231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 algn="ctr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r>
                      <a:rPr b="0" lang="en-GB" sz="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 Mono"/>
                        <a:ea typeface="Roboto Mono"/>
                      </a:rPr>
                      <a:t>MRI 3</a:t>
                    </a:r>
                    <a:endParaRPr b="0" lang="en-IN" sz="6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37" name="Google Shape;282;p19"/>
                  <p:cNvSpPr/>
                  <p:nvPr/>
                </p:nvSpPr>
                <p:spPr>
                  <a:xfrm>
                    <a:off x="4445280" y="4213800"/>
                    <a:ext cx="329400" cy="1076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 algn="ctr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r>
                      <a:rPr b="0" lang="en-GB" sz="520" strike="noStrike" u="none">
                        <a:solidFill>
                          <a:srgbClr val="90e0ef"/>
                        </a:solidFill>
                        <a:effectLst/>
                        <a:uFillTx/>
                        <a:latin typeface="Roboto Mono"/>
                        <a:ea typeface="Roboto Mono"/>
                      </a:rPr>
                      <a:t>t = +12m</a:t>
                    </a:r>
                    <a:endParaRPr b="0" lang="en-IN" sz="52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pic>
              <p:nvPicPr>
                <p:cNvPr id="238" name="Google Shape;283;p19" descr=""/>
                <p:cNvPicPr/>
                <p:nvPr/>
              </p:nvPicPr>
              <p:blipFill>
                <a:blip r:embed="rId4"/>
                <a:stretch/>
              </p:blipFill>
              <p:spPr>
                <a:xfrm>
                  <a:off x="4933800" y="3186000"/>
                  <a:ext cx="304560" cy="428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239" name="Google Shape;284;p19" descr=""/>
                <p:cNvPicPr/>
                <p:nvPr/>
              </p:nvPicPr>
              <p:blipFill>
                <a:blip r:embed="rId5"/>
                <a:stretch/>
              </p:blipFill>
              <p:spPr>
                <a:xfrm>
                  <a:off x="4943520" y="3657600"/>
                  <a:ext cx="285480" cy="1872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240" name="Google Shape;285;p19" descr=""/>
                <p:cNvPicPr/>
                <p:nvPr/>
              </p:nvPicPr>
              <p:blipFill>
                <a:blip r:embed="rId6"/>
                <a:stretch/>
              </p:blipFill>
              <p:spPr>
                <a:xfrm>
                  <a:off x="4933800" y="3719520"/>
                  <a:ext cx="304560" cy="428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grpSp>
              <p:nvGrpSpPr>
                <p:cNvPr id="241" name="Google Shape;286;p19"/>
                <p:cNvGrpSpPr/>
                <p:nvPr/>
              </p:nvGrpSpPr>
              <p:grpSpPr>
                <a:xfrm>
                  <a:off x="5257800" y="3333600"/>
                  <a:ext cx="809280" cy="666720"/>
                  <a:chOff x="5257800" y="3333600"/>
                  <a:chExt cx="809280" cy="666720"/>
                </a:xfrm>
              </p:grpSpPr>
              <p:sp>
                <p:nvSpPr>
                  <p:cNvPr id="242" name="Google Shape;287;p19"/>
                  <p:cNvSpPr/>
                  <p:nvPr/>
                </p:nvSpPr>
                <p:spPr>
                  <a:xfrm>
                    <a:off x="5257800" y="3333600"/>
                    <a:ext cx="809280" cy="666720"/>
                  </a:xfrm>
                  <a:prstGeom prst="roundRect">
                    <a:avLst>
                      <a:gd name="adj" fmla="val 8571"/>
                    </a:avLst>
                  </a:prstGeom>
                  <a:solidFill>
                    <a:srgbClr val="0b132b"/>
                  </a:solidFill>
                  <a:ln w="14300">
                    <a:solidFill>
                      <a:srgbClr val="00b4d8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IN" sz="1400" strike="noStrike" u="non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43" name="Google Shape;288;p19"/>
                  <p:cNvSpPr/>
                  <p:nvPr/>
                </p:nvSpPr>
                <p:spPr>
                  <a:xfrm>
                    <a:off x="5366520" y="3512880"/>
                    <a:ext cx="582480" cy="1382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 algn="ctr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r>
                      <a:rPr b="0" lang="en-GB" sz="670" strike="noStrike" u="none">
                        <a:solidFill>
                          <a:srgbClr val="00b4d8"/>
                        </a:solidFill>
                        <a:effectLst/>
                        <a:uFillTx/>
                        <a:latin typeface="Inter SemiBold"/>
                        <a:ea typeface="Inter SemiBold"/>
                      </a:rPr>
                      <a:t>Temporal AI</a:t>
                    </a:r>
                    <a:endParaRPr b="0" lang="en-IN" sz="67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44" name="Google Shape;289;p19"/>
                  <p:cNvSpPr/>
                  <p:nvPr/>
                </p:nvSpPr>
                <p:spPr>
                  <a:xfrm>
                    <a:off x="5492880" y="3672720"/>
                    <a:ext cx="329400" cy="1231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 algn="ctr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r>
                      <a:rPr b="0" lang="en-GB" sz="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  <a:ea typeface="Roboto"/>
                      </a:rPr>
                      <a:t>Feature</a:t>
                    </a:r>
                    <a:endParaRPr b="0" lang="en-IN" sz="6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45" name="Google Shape;290;p19"/>
                  <p:cNvSpPr/>
                  <p:nvPr/>
                </p:nvSpPr>
                <p:spPr>
                  <a:xfrm>
                    <a:off x="5446080" y="3787200"/>
                    <a:ext cx="423720" cy="1231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 algn="ctr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r>
                      <a:rPr b="0" lang="en-GB" sz="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Roboto"/>
                        <a:ea typeface="Roboto"/>
                      </a:rPr>
                      <a:t>Evolution</a:t>
                    </a:r>
                    <a:endParaRPr b="0" lang="en-IN" sz="6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246" name="Google Shape;291;p19"/>
                <p:cNvSpPr/>
                <p:nvPr/>
              </p:nvSpPr>
              <p:spPr>
                <a:xfrm>
                  <a:off x="6114960" y="3666960"/>
                  <a:ext cx="190080" cy="360"/>
                </a:xfrm>
                <a:custGeom>
                  <a:avLst/>
                  <a:gdLst>
                    <a:gd name="textAreaLeft" fmla="*/ 0 w 190080"/>
                    <a:gd name="textAreaRight" fmla="*/ 190440 w 190080"/>
                    <a:gd name="textAreaTop" fmla="*/ 0 h 360"/>
                    <a:gd name="textAreaBottom" fmla="*/ 720 h 360"/>
                  </a:gdLst>
                  <a:ahLst/>
                  <a:cxnLst/>
                  <a:rect l="textAreaLeft" t="textAreaTop" r="textAreaRight" b="textAreaBottom"/>
                  <a:pathLst>
                    <a:path fill="none" w="120000" h="120000">
                      <a:moveTo>
                        <a:pt x="0" y="0"/>
                      </a:moveTo>
                      <a:lnTo>
                        <a:pt x="120000" y="0"/>
                      </a:lnTo>
                    </a:path>
                  </a:pathLst>
                </a:custGeom>
                <a:solidFill>
                  <a:srgbClr val="ffffff"/>
                </a:solidFill>
                <a:ln w="19050">
                  <a:solidFill>
                    <a:srgbClr val="00b4d8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47" name="Google Shape;292;p19"/>
                <p:cNvSpPr/>
                <p:nvPr/>
              </p:nvSpPr>
              <p:spPr>
                <a:xfrm>
                  <a:off x="6305400" y="3629160"/>
                  <a:ext cx="75960" cy="75960"/>
                </a:xfrm>
                <a:custGeom>
                  <a:avLst/>
                  <a:gdLst>
                    <a:gd name="textAreaLeft" fmla="*/ 0 w 75960"/>
                    <a:gd name="textAreaRight" fmla="*/ 76320 w 75960"/>
                    <a:gd name="textAreaTop" fmla="*/ 0 h 75960"/>
                    <a:gd name="textAreaBottom" fmla="*/ 76320 h 75960"/>
                  </a:gdLst>
                  <a:ahLst/>
                  <a:cxnLst/>
                  <a:rect l="textAreaLeft" t="textAreaTop" r="textAreaRight" b="textAreaBottom"/>
                  <a:pathLst>
                    <a:path w="120000" h="120000">
                      <a:moveTo>
                        <a:pt x="0" y="0"/>
                      </a:moveTo>
                      <a:lnTo>
                        <a:pt x="120000" y="60000"/>
                      </a:lnTo>
                      <a:lnTo>
                        <a:pt x="0" y="120000"/>
                      </a:lnTo>
                      <a:close/>
                    </a:path>
                  </a:pathLst>
                </a:custGeom>
                <a:solidFill>
                  <a:srgbClr val="00b4d8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248" name="Google Shape;293;p19"/>
                <p:cNvGrpSpPr/>
                <p:nvPr/>
              </p:nvGrpSpPr>
              <p:grpSpPr>
                <a:xfrm>
                  <a:off x="6419880" y="2990880"/>
                  <a:ext cx="2152440" cy="1352520"/>
                  <a:chOff x="6419880" y="2990880"/>
                  <a:chExt cx="2152440" cy="1352520"/>
                </a:xfrm>
              </p:grpSpPr>
              <p:sp>
                <p:nvSpPr>
                  <p:cNvPr id="249" name="Google Shape;294;p19"/>
                  <p:cNvSpPr/>
                  <p:nvPr/>
                </p:nvSpPr>
                <p:spPr>
                  <a:xfrm>
                    <a:off x="6419880" y="2990880"/>
                    <a:ext cx="2152440" cy="1352520"/>
                  </a:xfrm>
                  <a:prstGeom prst="roundRect">
                    <a:avLst>
                      <a:gd name="adj" fmla="val 5633"/>
                    </a:avLst>
                  </a:prstGeom>
                  <a:solidFill>
                    <a:srgbClr val="0b132b"/>
                  </a:solidFill>
                  <a:ln w="9525">
                    <a:solidFill>
                      <a:srgbClr val="3a506b"/>
                    </a:solidFill>
                    <a:round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IN" sz="1400" strike="noStrike" u="non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cxnSp>
                <p:nvCxnSpPr>
                  <p:cNvPr id="250" name="Google Shape;295;p19"/>
                  <p:cNvCxnSpPr/>
                  <p:nvPr/>
                </p:nvCxnSpPr>
                <p:spPr>
                  <a:xfrm>
                    <a:off x="6705360" y="4086000"/>
                    <a:ext cx="1667160" cy="360"/>
                  </a:xfrm>
                  <a:prstGeom prst="straightConnector1">
                    <a:avLst/>
                  </a:prstGeom>
                  <a:ln w="9525">
                    <a:solidFill>
                      <a:srgbClr val="3a506b"/>
                    </a:solidFill>
                    <a:round/>
                  </a:ln>
                </p:spPr>
              </p:cxnSp>
              <p:cxnSp>
                <p:nvCxnSpPr>
                  <p:cNvPr id="251" name="Google Shape;296;p19"/>
                  <p:cNvCxnSpPr/>
                  <p:nvPr/>
                </p:nvCxnSpPr>
                <p:spPr>
                  <a:xfrm>
                    <a:off x="6705360" y="3181320"/>
                    <a:ext cx="360" cy="905040"/>
                  </a:xfrm>
                  <a:prstGeom prst="straightConnector1">
                    <a:avLst/>
                  </a:prstGeom>
                  <a:ln w="9525">
                    <a:solidFill>
                      <a:srgbClr val="3a506b"/>
                    </a:solidFill>
                    <a:round/>
                  </a:ln>
                </p:spPr>
              </p:cxnSp>
              <p:sp>
                <p:nvSpPr>
                  <p:cNvPr id="252" name="Google Shape;297;p19"/>
                  <p:cNvSpPr/>
                  <p:nvPr/>
                </p:nvSpPr>
                <p:spPr>
                  <a:xfrm>
                    <a:off x="7247160" y="4191120"/>
                    <a:ext cx="573480" cy="1152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 algn="ctr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r>
                      <a:rPr b="0" lang="en-GB" sz="560" strike="noStrike" u="none">
                        <a:solidFill>
                          <a:srgbClr val="90e0ef"/>
                        </a:solidFill>
                        <a:effectLst/>
                        <a:uFillTx/>
                        <a:latin typeface="Roboto Mono"/>
                        <a:ea typeface="Roboto Mono"/>
                      </a:rPr>
                      <a:t>Time (Visits)</a:t>
                    </a:r>
                    <a:endParaRPr b="0" lang="en-IN" sz="56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53" name="Google Shape;298;p19"/>
                  <p:cNvSpPr/>
                  <p:nvPr/>
                </p:nvSpPr>
                <p:spPr>
                  <a:xfrm rot="16200000">
                    <a:off x="6357240" y="3556080"/>
                    <a:ext cx="411840" cy="1076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 algn="ctr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r>
                      <a:rPr b="0" lang="en-GB" sz="520" strike="noStrike" u="none">
                        <a:solidFill>
                          <a:srgbClr val="90e0ef"/>
                        </a:solidFill>
                        <a:effectLst/>
                        <a:uFillTx/>
                        <a:latin typeface="Roboto Mono"/>
                        <a:ea typeface="Roboto Mono"/>
                      </a:rPr>
                      <a:t>Risk Level</a:t>
                    </a:r>
                    <a:endParaRPr b="0" lang="en-IN" sz="52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pic>
                <p:nvPicPr>
                  <p:cNvPr id="254" name="Google Shape;299;p19" descr=""/>
                  <p:cNvPicPr/>
                  <p:nvPr/>
                </p:nvPicPr>
                <p:blipFill>
                  <a:blip r:embed="rId7"/>
                  <a:stretch/>
                </p:blipFill>
                <p:spPr>
                  <a:xfrm>
                    <a:off x="6705720" y="3795840"/>
                    <a:ext cx="1657080" cy="93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  <p:pic>
                <p:nvPicPr>
                  <p:cNvPr id="255" name="Google Shape;300;p19" descr=""/>
                  <p:cNvPicPr/>
                  <p:nvPr/>
                </p:nvPicPr>
                <p:blipFill>
                  <a:blip r:embed="rId8"/>
                  <a:stretch/>
                </p:blipFill>
                <p:spPr>
                  <a:xfrm>
                    <a:off x="6705720" y="3510000"/>
                    <a:ext cx="1657080" cy="93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  <p:pic>
                <p:nvPicPr>
                  <p:cNvPr id="256" name="Google Shape;301;p19" descr=""/>
                  <p:cNvPicPr/>
                  <p:nvPr/>
                </p:nvPicPr>
                <p:blipFill>
                  <a:blip r:embed="rId9"/>
                  <a:stretch/>
                </p:blipFill>
                <p:spPr>
                  <a:xfrm>
                    <a:off x="6705720" y="3224160"/>
                    <a:ext cx="1657080" cy="93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  <p:pic>
                <p:nvPicPr>
                  <p:cNvPr id="257" name="Google Shape;302;p19" descr=""/>
                  <p:cNvPicPr/>
                  <p:nvPr/>
                </p:nvPicPr>
                <p:blipFill>
                  <a:blip r:embed="rId10"/>
                  <a:stretch/>
                </p:blipFill>
                <p:spPr>
                  <a:xfrm>
                    <a:off x="6748560" y="3262320"/>
                    <a:ext cx="1537920" cy="7138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  <p:sp>
                <p:nvSpPr>
                  <p:cNvPr id="258" name="Google Shape;303;p19"/>
                  <p:cNvSpPr/>
                  <p:nvPr/>
                </p:nvSpPr>
                <p:spPr>
                  <a:xfrm>
                    <a:off x="6767640" y="3919680"/>
                    <a:ext cx="66240" cy="66240"/>
                  </a:xfrm>
                  <a:prstGeom prst="ellipse">
                    <a:avLst/>
                  </a:prstGeom>
                  <a:solidFill>
                    <a:srgbClr val="00b4d8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IN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59" name="Google Shape;304;p19"/>
                  <p:cNvSpPr/>
                  <p:nvPr/>
                </p:nvSpPr>
                <p:spPr>
                  <a:xfrm>
                    <a:off x="7434360" y="3643200"/>
                    <a:ext cx="66240" cy="66240"/>
                  </a:xfrm>
                  <a:prstGeom prst="ellipse">
                    <a:avLst/>
                  </a:prstGeom>
                  <a:solidFill>
                    <a:srgbClr val="48cae4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IN" sz="14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60" name="Google Shape;305;p19"/>
                  <p:cNvSpPr/>
                  <p:nvPr/>
                </p:nvSpPr>
                <p:spPr>
                  <a:xfrm>
                    <a:off x="8101080" y="3300480"/>
                    <a:ext cx="66240" cy="66240"/>
                  </a:xfrm>
                  <a:prstGeom prst="ellipse">
                    <a:avLst/>
                  </a:prstGeom>
                  <a:solidFill>
                    <a:srgbClr val="ff5a5f"/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endParaRPr b="0" lang="en-IN" sz="1400" strike="noStrike" u="non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grpSp>
                <p:nvGrpSpPr>
                  <p:cNvPr id="261" name="Google Shape;306;p19"/>
                  <p:cNvGrpSpPr/>
                  <p:nvPr/>
                </p:nvGrpSpPr>
                <p:grpSpPr>
                  <a:xfrm>
                    <a:off x="7772400" y="3243240"/>
                    <a:ext cx="723600" cy="254880"/>
                    <a:chOff x="7772400" y="3243240"/>
                    <a:chExt cx="723600" cy="254880"/>
                  </a:xfrm>
                </p:grpSpPr>
                <p:pic>
                  <p:nvPicPr>
                    <p:cNvPr id="262" name="Google Shape;307;p19" descr=""/>
                    <p:cNvPicPr/>
                    <p:nvPr/>
                  </p:nvPicPr>
                  <p:blipFill>
                    <a:blip r:embed="rId11"/>
                    <a:stretch/>
                  </p:blipFill>
                  <p:spPr>
                    <a:xfrm>
                      <a:off x="8043840" y="3243240"/>
                      <a:ext cx="180720" cy="18072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</p:pic>
                <p:sp>
                  <p:nvSpPr>
                    <p:cNvPr id="263" name="Google Shape;308;p19"/>
                    <p:cNvSpPr/>
                    <p:nvPr/>
                  </p:nvSpPr>
                  <p:spPr>
                    <a:xfrm>
                      <a:off x="7772400" y="3343320"/>
                      <a:ext cx="723600" cy="142560"/>
                    </a:xfrm>
                    <a:prstGeom prst="roundRect">
                      <a:avLst>
                        <a:gd name="adj" fmla="val 20000"/>
                      </a:avLst>
                    </a:prstGeom>
                    <a:solidFill>
                      <a:srgbClr val="2a3659">
                        <a:alpha val="90000"/>
                      </a:srgbClr>
                    </a:solidFill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0" rIns="0" tIns="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IN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sp>
                  <p:nvSpPr>
                    <p:cNvPr id="264" name="Google Shape;309;p19"/>
                    <p:cNvSpPr/>
                    <p:nvPr/>
                  </p:nvSpPr>
                  <p:spPr>
                    <a:xfrm>
                      <a:off x="7904880" y="3398400"/>
                      <a:ext cx="458640" cy="9972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49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Roboto Mono"/>
                          <a:ea typeface="Roboto Mono"/>
                        </a:rPr>
                        <a:t>Grad-CAM ROI</a:t>
                      </a:r>
                      <a:endParaRPr b="0" lang="en-IN" sz="49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</p:grpSp>
              <p:sp>
                <p:nvSpPr>
                  <p:cNvPr id="265" name="Google Shape;310;p19"/>
                  <p:cNvSpPr/>
                  <p:nvPr/>
                </p:nvSpPr>
                <p:spPr>
                  <a:xfrm>
                    <a:off x="6883920" y="3059280"/>
                    <a:ext cx="1300320" cy="130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0" rIns="0" tIns="0" bIns="0" anchor="ctr">
                    <a:noAutofit/>
                  </a:bodyPr>
                  <a:p>
                    <a:pPr algn="ctr">
                      <a:lnSpc>
                        <a:spcPct val="100000"/>
                      </a:lnSpc>
                      <a:tabLst>
                        <a:tab algn="l" pos="0"/>
                      </a:tabLst>
                    </a:pPr>
                    <a:r>
                      <a:rPr b="0" lang="en-GB" sz="640" strike="noStrike" u="none">
                        <a:solidFill>
                          <a:srgbClr val="00b4d8"/>
                        </a:solidFill>
                        <a:effectLst/>
                        <a:uFillTx/>
                        <a:latin typeface="Inter SemiBold"/>
                        <a:ea typeface="Inter SemiBold"/>
                      </a:rPr>
                      <a:t>Continuous Risk Trajectory</a:t>
                    </a:r>
                    <a:endParaRPr b="0" lang="en-IN" sz="64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266" name="Google Shape;311;p19"/>
                <p:cNvSpPr/>
                <p:nvPr/>
              </p:nvSpPr>
              <p:spPr>
                <a:xfrm>
                  <a:off x="4324320" y="4438800"/>
                  <a:ext cx="4248000" cy="3427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t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GB" sz="950" strike="noStrike" u="none">
                      <a:solidFill>
                        <a:srgbClr val="00b4d8"/>
                      </a:solidFill>
                      <a:effectLst/>
                      <a:uFillTx/>
                      <a:latin typeface="Roboto Medium"/>
                      <a:ea typeface="Roboto Medium"/>
                    </a:rPr>
                    <a:t>Paradigm Shift:</a:t>
                  </a:r>
                  <a:r>
                    <a:rPr b="0" lang="en-GB" sz="950" strike="noStrike" u="none">
                      <a:solidFill>
                        <a:srgbClr val="90e0ef"/>
                      </a:solidFill>
                      <a:effectLst/>
                      <a:uFillTx/>
                      <a:latin typeface="Roboto"/>
                      <a:ea typeface="Roboto"/>
                    </a:rPr>
                    <a:t> Tracks clear, explainable temporal trends across patient history rather than isolated static moments.</a:t>
                  </a:r>
                  <a:endParaRPr b="0" lang="en-IN" sz="95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316;p20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pic>
          <p:nvPicPr>
            <p:cNvPr id="268" name="Google Shape;317;p20" descr="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9143640" cy="51433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69" name="Google Shape;318;p20"/>
            <p:cNvGrpSpPr/>
            <p:nvPr/>
          </p:nvGrpSpPr>
          <p:grpSpPr>
            <a:xfrm>
              <a:off x="8412480" y="259200"/>
              <a:ext cx="304560" cy="304560"/>
              <a:chOff x="8412480" y="259200"/>
              <a:chExt cx="304560" cy="304560"/>
            </a:xfrm>
          </p:grpSpPr>
          <p:sp>
            <p:nvSpPr>
              <p:cNvPr id="270" name="Google Shape;319;p20"/>
              <p:cNvSpPr/>
              <p:nvPr/>
            </p:nvSpPr>
            <p:spPr>
              <a:xfrm>
                <a:off x="8412480" y="259200"/>
                <a:ext cx="304560" cy="304560"/>
              </a:xfrm>
              <a:prstGeom prst="ellipse">
                <a:avLst/>
              </a:prstGeom>
              <a:noFill/>
              <a:ln w="19050">
                <a:solidFill>
                  <a:srgbClr val="00b4d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1" name="Google Shape;320;p20"/>
              <p:cNvSpPr/>
              <p:nvPr/>
            </p:nvSpPr>
            <p:spPr>
              <a:xfrm>
                <a:off x="8503920" y="320040"/>
                <a:ext cx="121680" cy="91080"/>
              </a:xfrm>
              <a:custGeom>
                <a:avLst/>
                <a:gdLst>
                  <a:gd name="textAreaLeft" fmla="*/ 0 w 121680"/>
                  <a:gd name="textAreaRight" fmla="*/ 122040 w 121680"/>
                  <a:gd name="textAreaTop" fmla="*/ 0 h 91080"/>
                  <a:gd name="textAreaBottom" fmla="*/ 91440 h 91080"/>
                </a:gdLst>
                <a:ahLst/>
                <a:cxnLst/>
                <a:rect l="textAreaLeft" t="textAreaTop" r="textAreaRight" b="textAreaBottom"/>
                <a:pathLst>
                  <a:path w="120000" h="120000">
                    <a:moveTo>
                      <a:pt x="0" y="120000"/>
                    </a:moveTo>
                    <a:quadBezTo>
                      <a:pt x="60000" y="0"/>
                      <a:pt x="120000" y="120000"/>
                    </a:quadBezTo>
                    <a:lnTo>
                      <a:pt x="0" y="1200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2" name="Google Shape;321;p20"/>
              <p:cNvSpPr/>
              <p:nvPr/>
            </p:nvSpPr>
            <p:spPr>
              <a:xfrm>
                <a:off x="8481240" y="388800"/>
                <a:ext cx="45360" cy="45360"/>
              </a:xfrm>
              <a:prstGeom prst="ellipse">
                <a:avLst/>
              </a:prstGeom>
              <a:solidFill>
                <a:srgbClr val="00b4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3" name="Google Shape;322;p20"/>
              <p:cNvSpPr/>
              <p:nvPr/>
            </p:nvSpPr>
            <p:spPr>
              <a:xfrm>
                <a:off x="8602920" y="388800"/>
                <a:ext cx="45360" cy="45360"/>
              </a:xfrm>
              <a:prstGeom prst="ellipse">
                <a:avLst/>
              </a:prstGeom>
              <a:solidFill>
                <a:srgbClr val="00b4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4" name="Google Shape;323;p20"/>
              <p:cNvSpPr/>
              <p:nvPr/>
            </p:nvSpPr>
            <p:spPr>
              <a:xfrm>
                <a:off x="8549640" y="350640"/>
                <a:ext cx="30240" cy="3024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275" name="Google Shape;324;p20" descr=""/>
            <p:cNvPicPr/>
            <p:nvPr/>
          </p:nvPicPr>
          <p:blipFill>
            <a:blip r:embed="rId2"/>
            <a:stretch/>
          </p:blipFill>
          <p:spPr>
            <a:xfrm>
              <a:off x="380880" y="781200"/>
              <a:ext cx="8381520" cy="187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76" name="Google Shape;325;p20"/>
          <p:cNvSpPr/>
          <p:nvPr/>
        </p:nvSpPr>
        <p:spPr>
          <a:xfrm>
            <a:off x="380880" y="190440"/>
            <a:ext cx="78102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2040" strike="noStrike" u="non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48-Hour Execution Roadmap</a:t>
            </a:r>
            <a:endParaRPr b="0" lang="en-IN" sz="20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GB" sz="1190" strike="noStrike" u="none">
                <a:solidFill>
                  <a:srgbClr val="00b4d8"/>
                </a:solidFill>
                <a:effectLst/>
                <a:uFillTx/>
                <a:latin typeface="Inter Medium"/>
                <a:ea typeface="Inter Medium"/>
              </a:rPr>
              <a:t>A realistic 5-phase timeline to deliver the NeuroPredict prototype</a:t>
            </a:r>
            <a:endParaRPr b="0" lang="en-IN" sz="11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7" name="Google Shape;326;p20"/>
          <p:cNvGrpSpPr/>
          <p:nvPr/>
        </p:nvGrpSpPr>
        <p:grpSpPr>
          <a:xfrm>
            <a:off x="533520" y="990720"/>
            <a:ext cx="8191080" cy="3771360"/>
            <a:chOff x="533520" y="990720"/>
            <a:chExt cx="8191080" cy="3771360"/>
          </a:xfrm>
        </p:grpSpPr>
        <p:pic>
          <p:nvPicPr>
            <p:cNvPr id="278" name="Google Shape;327;p20" descr=""/>
            <p:cNvPicPr/>
            <p:nvPr/>
          </p:nvPicPr>
          <p:blipFill>
            <a:blip r:embed="rId3"/>
            <a:stretch/>
          </p:blipFill>
          <p:spPr>
            <a:xfrm>
              <a:off x="595440" y="1128600"/>
              <a:ext cx="28080" cy="35524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79" name="Google Shape;328;p20"/>
            <p:cNvGrpSpPr/>
            <p:nvPr/>
          </p:nvGrpSpPr>
          <p:grpSpPr>
            <a:xfrm>
              <a:off x="533520" y="990720"/>
              <a:ext cx="8191080" cy="647280"/>
              <a:chOff x="533520" y="990720"/>
              <a:chExt cx="8191080" cy="647280"/>
            </a:xfrm>
          </p:grpSpPr>
          <p:sp>
            <p:nvSpPr>
              <p:cNvPr id="280" name="Google Shape;329;p20"/>
              <p:cNvSpPr/>
              <p:nvPr/>
            </p:nvSpPr>
            <p:spPr>
              <a:xfrm>
                <a:off x="533520" y="1143000"/>
                <a:ext cx="151920" cy="151920"/>
              </a:xfrm>
              <a:prstGeom prst="ellipse">
                <a:avLst/>
              </a:prstGeom>
              <a:solidFill>
                <a:srgbClr val="00b4d8"/>
              </a:solidFill>
              <a:ln w="19050">
                <a:solidFill>
                  <a:srgbClr val="0b132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Google Shape;330;p20"/>
              <p:cNvSpPr/>
              <p:nvPr/>
            </p:nvSpPr>
            <p:spPr>
              <a:xfrm>
                <a:off x="581040" y="1190520"/>
                <a:ext cx="56880" cy="5688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2" name="Google Shape;331;p20"/>
              <p:cNvSpPr/>
              <p:nvPr/>
            </p:nvSpPr>
            <p:spPr>
              <a:xfrm>
                <a:off x="838080" y="990720"/>
                <a:ext cx="7886520" cy="647280"/>
              </a:xfrm>
              <a:prstGeom prst="roundRect">
                <a:avLst>
                  <a:gd name="adj" fmla="val 11764"/>
                </a:avLst>
              </a:prstGeom>
              <a:solidFill>
                <a:srgbClr val="1c2541"/>
              </a:solidFill>
              <a:ln w="9525">
                <a:solidFill>
                  <a:srgbClr val="3a50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Google Shape;332;p20"/>
              <p:cNvSpPr/>
              <p:nvPr/>
            </p:nvSpPr>
            <p:spPr>
              <a:xfrm>
                <a:off x="990720" y="1066680"/>
                <a:ext cx="7581600" cy="495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000" strike="noStrike" u="none">
                    <a:solidFill>
                      <a:srgbClr val="00b4d8"/>
                    </a:solidFill>
                    <a:effectLst/>
                    <a:uFillTx/>
                    <a:latin typeface="Roboto Mono Medium"/>
                    <a:ea typeface="Roboto Mono Medium"/>
                  </a:rPr>
                  <a:t>Phase 1 • Hours 0–8</a:t>
                </a:r>
                <a:endPara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50"/>
                  </a:spcBef>
                  <a:tabLst>
                    <a:tab algn="l" pos="0"/>
                  </a:tabLst>
                </a:pPr>
                <a:r>
                  <a:rPr b="1" lang="en-GB" sz="110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Dataset Setup &amp; MRI Preprocessing:</a:t>
                </a:r>
                <a:r>
                  <a:rPr b="0" lang="en-GB" sz="110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 Establish initial pipelines and prepare environment data.</a:t>
                </a:r>
                <a:endParaRPr b="0" lang="en-IN" sz="11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84" name="Google Shape;333;p20"/>
            <p:cNvGrpSpPr/>
            <p:nvPr/>
          </p:nvGrpSpPr>
          <p:grpSpPr>
            <a:xfrm>
              <a:off x="533520" y="1771560"/>
              <a:ext cx="8191080" cy="647280"/>
              <a:chOff x="533520" y="1771560"/>
              <a:chExt cx="8191080" cy="647280"/>
            </a:xfrm>
          </p:grpSpPr>
          <p:sp>
            <p:nvSpPr>
              <p:cNvPr id="285" name="Google Shape;334;p20"/>
              <p:cNvSpPr/>
              <p:nvPr/>
            </p:nvSpPr>
            <p:spPr>
              <a:xfrm>
                <a:off x="533520" y="1924200"/>
                <a:ext cx="151920" cy="151920"/>
              </a:xfrm>
              <a:prstGeom prst="ellipse">
                <a:avLst/>
              </a:prstGeom>
              <a:solidFill>
                <a:srgbClr val="00b4d8"/>
              </a:solidFill>
              <a:ln w="19050">
                <a:solidFill>
                  <a:srgbClr val="0b132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6" name="Google Shape;335;p20"/>
              <p:cNvSpPr/>
              <p:nvPr/>
            </p:nvSpPr>
            <p:spPr>
              <a:xfrm>
                <a:off x="581040" y="1971720"/>
                <a:ext cx="56880" cy="5688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7" name="Google Shape;336;p20"/>
              <p:cNvSpPr/>
              <p:nvPr/>
            </p:nvSpPr>
            <p:spPr>
              <a:xfrm>
                <a:off x="838080" y="1771560"/>
                <a:ext cx="7886520" cy="647280"/>
              </a:xfrm>
              <a:prstGeom prst="roundRect">
                <a:avLst>
                  <a:gd name="adj" fmla="val 11764"/>
                </a:avLst>
              </a:prstGeom>
              <a:solidFill>
                <a:srgbClr val="1c2541"/>
              </a:solidFill>
              <a:ln w="9525">
                <a:solidFill>
                  <a:srgbClr val="3a50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8" name="Google Shape;337;p20"/>
              <p:cNvSpPr/>
              <p:nvPr/>
            </p:nvSpPr>
            <p:spPr>
              <a:xfrm>
                <a:off x="990720" y="1847880"/>
                <a:ext cx="7581600" cy="495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000" strike="noStrike" u="none">
                    <a:solidFill>
                      <a:srgbClr val="00b4d8"/>
                    </a:solidFill>
                    <a:effectLst/>
                    <a:uFillTx/>
                    <a:latin typeface="Roboto Mono Medium"/>
                    <a:ea typeface="Roboto Mono Medium"/>
                  </a:rPr>
                  <a:t>Phase 2 • Hours 8–20</a:t>
                </a:r>
                <a:endPara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50"/>
                  </a:spcBef>
                  <a:tabLst>
                    <a:tab algn="l" pos="0"/>
                  </a:tabLst>
                </a:pPr>
                <a:r>
                  <a:rPr b="1" lang="en-GB" sz="110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Feature Extraction:</a:t>
                </a:r>
                <a:r>
                  <a:rPr b="0" lang="en-GB" sz="110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 Build baseline CNN feature extractor and prepare longitudinal scan sequences.</a:t>
                </a:r>
                <a:endParaRPr b="0" lang="en-IN" sz="11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89" name="Google Shape;338;p20"/>
            <p:cNvGrpSpPr/>
            <p:nvPr/>
          </p:nvGrpSpPr>
          <p:grpSpPr>
            <a:xfrm>
              <a:off x="533520" y="2552760"/>
              <a:ext cx="8191080" cy="647280"/>
              <a:chOff x="533520" y="2552760"/>
              <a:chExt cx="8191080" cy="647280"/>
            </a:xfrm>
          </p:grpSpPr>
          <p:sp>
            <p:nvSpPr>
              <p:cNvPr id="290" name="Google Shape;339;p20"/>
              <p:cNvSpPr/>
              <p:nvPr/>
            </p:nvSpPr>
            <p:spPr>
              <a:xfrm>
                <a:off x="533520" y="2705040"/>
                <a:ext cx="151920" cy="151920"/>
              </a:xfrm>
              <a:prstGeom prst="ellipse">
                <a:avLst/>
              </a:prstGeom>
              <a:solidFill>
                <a:srgbClr val="00b4d8"/>
              </a:solidFill>
              <a:ln w="19050">
                <a:solidFill>
                  <a:srgbClr val="0b132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Google Shape;340;p20"/>
              <p:cNvSpPr/>
              <p:nvPr/>
            </p:nvSpPr>
            <p:spPr>
              <a:xfrm>
                <a:off x="581040" y="2752560"/>
                <a:ext cx="56880" cy="5688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Google Shape;341;p20"/>
              <p:cNvSpPr/>
              <p:nvPr/>
            </p:nvSpPr>
            <p:spPr>
              <a:xfrm>
                <a:off x="838080" y="2552760"/>
                <a:ext cx="7886520" cy="647280"/>
              </a:xfrm>
              <a:prstGeom prst="roundRect">
                <a:avLst>
                  <a:gd name="adj" fmla="val 11764"/>
                </a:avLst>
              </a:prstGeom>
              <a:solidFill>
                <a:srgbClr val="1c2541"/>
              </a:solidFill>
              <a:ln w="9525">
                <a:solidFill>
                  <a:srgbClr val="3a50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Google Shape;342;p20"/>
              <p:cNvSpPr/>
              <p:nvPr/>
            </p:nvSpPr>
            <p:spPr>
              <a:xfrm>
                <a:off x="990720" y="2629080"/>
                <a:ext cx="7581600" cy="495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000" strike="noStrike" u="none">
                    <a:solidFill>
                      <a:srgbClr val="00b4d8"/>
                    </a:solidFill>
                    <a:effectLst/>
                    <a:uFillTx/>
                    <a:latin typeface="Roboto Mono Medium"/>
                    <a:ea typeface="Roboto Mono Medium"/>
                  </a:rPr>
                  <a:t>Phase 3 • Hours 20–32</a:t>
                </a:r>
                <a:endPara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50"/>
                  </a:spcBef>
                  <a:tabLst>
                    <a:tab algn="l" pos="0"/>
                  </a:tabLst>
                </a:pPr>
                <a:r>
                  <a:rPr b="1" lang="en-GB" sz="110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Temporal Modeling:</a:t>
                </a:r>
                <a:r>
                  <a:rPr b="0" lang="en-GB" sz="110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 Implement and train temporal model architectures using held-out dataset splits.</a:t>
                </a:r>
                <a:endParaRPr b="0" lang="en-IN" sz="11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94" name="Google Shape;343;p20"/>
            <p:cNvGrpSpPr/>
            <p:nvPr/>
          </p:nvGrpSpPr>
          <p:grpSpPr>
            <a:xfrm>
              <a:off x="533520" y="3333600"/>
              <a:ext cx="8191080" cy="647280"/>
              <a:chOff x="533520" y="3333600"/>
              <a:chExt cx="8191080" cy="647280"/>
            </a:xfrm>
          </p:grpSpPr>
          <p:sp>
            <p:nvSpPr>
              <p:cNvPr id="295" name="Google Shape;344;p20"/>
              <p:cNvSpPr/>
              <p:nvPr/>
            </p:nvSpPr>
            <p:spPr>
              <a:xfrm>
                <a:off x="533520" y="3486240"/>
                <a:ext cx="151920" cy="151920"/>
              </a:xfrm>
              <a:prstGeom prst="ellipse">
                <a:avLst/>
              </a:prstGeom>
              <a:solidFill>
                <a:srgbClr val="00b4d8"/>
              </a:solidFill>
              <a:ln w="19050">
                <a:solidFill>
                  <a:srgbClr val="0b132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Google Shape;345;p20"/>
              <p:cNvSpPr/>
              <p:nvPr/>
            </p:nvSpPr>
            <p:spPr>
              <a:xfrm>
                <a:off x="581040" y="3533760"/>
                <a:ext cx="56880" cy="5688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Google Shape;346;p20"/>
              <p:cNvSpPr/>
              <p:nvPr/>
            </p:nvSpPr>
            <p:spPr>
              <a:xfrm>
                <a:off x="838080" y="3333600"/>
                <a:ext cx="7886520" cy="647280"/>
              </a:xfrm>
              <a:prstGeom prst="roundRect">
                <a:avLst>
                  <a:gd name="adj" fmla="val 11764"/>
                </a:avLst>
              </a:prstGeom>
              <a:solidFill>
                <a:srgbClr val="1c2541"/>
              </a:solidFill>
              <a:ln w="9525">
                <a:solidFill>
                  <a:srgbClr val="3a50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Google Shape;347;p20"/>
              <p:cNvSpPr/>
              <p:nvPr/>
            </p:nvSpPr>
            <p:spPr>
              <a:xfrm>
                <a:off x="990720" y="3409920"/>
                <a:ext cx="7581600" cy="495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000" strike="noStrike" u="none">
                    <a:solidFill>
                      <a:srgbClr val="00b4d8"/>
                    </a:solidFill>
                    <a:effectLst/>
                    <a:uFillTx/>
                    <a:latin typeface="Roboto Mono Medium"/>
                    <a:ea typeface="Roboto Mono Medium"/>
                  </a:rPr>
                  <a:t>Phase 4 • Hours 32–40</a:t>
                </a:r>
                <a:endPara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50"/>
                  </a:spcBef>
                  <a:tabLst>
                    <a:tab algn="l" pos="0"/>
                  </a:tabLst>
                </a:pPr>
                <a:r>
                  <a:rPr b="1" lang="en-GB" sz="110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Explainability &amp; Timelines:</a:t>
                </a:r>
                <a:r>
                  <a:rPr b="0" lang="en-GB" sz="110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 Generate clinical explainability visualizations and temporal projection graphs.</a:t>
                </a:r>
                <a:endParaRPr b="0" lang="en-IN" sz="11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99" name="Google Shape;348;p20"/>
            <p:cNvGrpSpPr/>
            <p:nvPr/>
          </p:nvGrpSpPr>
          <p:grpSpPr>
            <a:xfrm>
              <a:off x="533520" y="4114800"/>
              <a:ext cx="8191080" cy="647280"/>
              <a:chOff x="533520" y="4114800"/>
              <a:chExt cx="8191080" cy="647280"/>
            </a:xfrm>
          </p:grpSpPr>
          <p:sp>
            <p:nvSpPr>
              <p:cNvPr id="300" name="Google Shape;349;p20"/>
              <p:cNvSpPr/>
              <p:nvPr/>
            </p:nvSpPr>
            <p:spPr>
              <a:xfrm>
                <a:off x="533520" y="4267080"/>
                <a:ext cx="151920" cy="151920"/>
              </a:xfrm>
              <a:prstGeom prst="ellipse">
                <a:avLst/>
              </a:prstGeom>
              <a:solidFill>
                <a:srgbClr val="00b4d8"/>
              </a:solidFill>
              <a:ln w="19050">
                <a:solidFill>
                  <a:srgbClr val="0b132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Google Shape;350;p20"/>
              <p:cNvSpPr/>
              <p:nvPr/>
            </p:nvSpPr>
            <p:spPr>
              <a:xfrm>
                <a:off x="581040" y="4314960"/>
                <a:ext cx="56880" cy="5688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Google Shape;351;p20"/>
              <p:cNvSpPr/>
              <p:nvPr/>
            </p:nvSpPr>
            <p:spPr>
              <a:xfrm>
                <a:off x="838080" y="4114800"/>
                <a:ext cx="7886520" cy="647280"/>
              </a:xfrm>
              <a:prstGeom prst="roundRect">
                <a:avLst>
                  <a:gd name="adj" fmla="val 11764"/>
                </a:avLst>
              </a:prstGeom>
              <a:solidFill>
                <a:srgbClr val="1c2541"/>
              </a:solidFill>
              <a:ln w="9525">
                <a:solidFill>
                  <a:srgbClr val="3a50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Google Shape;352;p20"/>
              <p:cNvSpPr/>
              <p:nvPr/>
            </p:nvSpPr>
            <p:spPr>
              <a:xfrm>
                <a:off x="990720" y="4191120"/>
                <a:ext cx="7581600" cy="495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920" strike="noStrike" u="none">
                    <a:solidFill>
                      <a:srgbClr val="00b4d8"/>
                    </a:solidFill>
                    <a:effectLst/>
                    <a:uFillTx/>
                    <a:latin typeface="Roboto Mono Medium"/>
                    <a:ea typeface="Roboto Mono Medium"/>
                  </a:rPr>
                  <a:t>Phase 5 • Hours 40–48</a:t>
                </a:r>
                <a:endParaRPr b="0" lang="en-IN" sz="92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50"/>
                  </a:spcBef>
                  <a:tabLst>
                    <a:tab algn="l" pos="0"/>
                  </a:tabLst>
                </a:pPr>
                <a:r>
                  <a:rPr b="1" lang="en-GB" sz="102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Dashboard &amp; Final Demo:</a:t>
                </a:r>
                <a:r>
                  <a:rPr b="0" lang="en-GB" sz="102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 Complete Streamlit dashboard integration, testing, and demo prep using PyTorch &amp; Google Colab GPUs.</a:t>
                </a:r>
                <a:endParaRPr b="0" lang="en-IN" sz="102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57;p21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pic>
          <p:nvPicPr>
            <p:cNvPr id="305" name="Google Shape;358;p21" descr="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9143640" cy="51433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06" name="Google Shape;359;p21"/>
            <p:cNvGrpSpPr/>
            <p:nvPr/>
          </p:nvGrpSpPr>
          <p:grpSpPr>
            <a:xfrm>
              <a:off x="8412480" y="259200"/>
              <a:ext cx="304560" cy="304560"/>
              <a:chOff x="8412480" y="259200"/>
              <a:chExt cx="304560" cy="304560"/>
            </a:xfrm>
          </p:grpSpPr>
          <p:sp>
            <p:nvSpPr>
              <p:cNvPr id="307" name="Google Shape;360;p21"/>
              <p:cNvSpPr/>
              <p:nvPr/>
            </p:nvSpPr>
            <p:spPr>
              <a:xfrm>
                <a:off x="8412480" y="259200"/>
                <a:ext cx="304560" cy="304560"/>
              </a:xfrm>
              <a:prstGeom prst="ellipse">
                <a:avLst/>
              </a:prstGeom>
              <a:noFill/>
              <a:ln w="19050">
                <a:solidFill>
                  <a:srgbClr val="00b4d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Google Shape;361;p21"/>
              <p:cNvSpPr/>
              <p:nvPr/>
            </p:nvSpPr>
            <p:spPr>
              <a:xfrm>
                <a:off x="8503920" y="320040"/>
                <a:ext cx="121680" cy="91080"/>
              </a:xfrm>
              <a:custGeom>
                <a:avLst/>
                <a:gdLst>
                  <a:gd name="textAreaLeft" fmla="*/ 0 w 121680"/>
                  <a:gd name="textAreaRight" fmla="*/ 122040 w 121680"/>
                  <a:gd name="textAreaTop" fmla="*/ 0 h 91080"/>
                  <a:gd name="textAreaBottom" fmla="*/ 91440 h 91080"/>
                </a:gdLst>
                <a:ahLst/>
                <a:cxnLst/>
                <a:rect l="textAreaLeft" t="textAreaTop" r="textAreaRight" b="textAreaBottom"/>
                <a:pathLst>
                  <a:path w="120000" h="120000">
                    <a:moveTo>
                      <a:pt x="0" y="120000"/>
                    </a:moveTo>
                    <a:quadBezTo>
                      <a:pt x="60000" y="0"/>
                      <a:pt x="120000" y="120000"/>
                    </a:quadBezTo>
                    <a:lnTo>
                      <a:pt x="0" y="1200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Google Shape;362;p21"/>
              <p:cNvSpPr/>
              <p:nvPr/>
            </p:nvSpPr>
            <p:spPr>
              <a:xfrm>
                <a:off x="8481240" y="388800"/>
                <a:ext cx="45360" cy="45360"/>
              </a:xfrm>
              <a:prstGeom prst="ellipse">
                <a:avLst/>
              </a:prstGeom>
              <a:solidFill>
                <a:srgbClr val="00b4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0" name="Google Shape;363;p21"/>
              <p:cNvSpPr/>
              <p:nvPr/>
            </p:nvSpPr>
            <p:spPr>
              <a:xfrm>
                <a:off x="8602920" y="388800"/>
                <a:ext cx="45360" cy="45360"/>
              </a:xfrm>
              <a:prstGeom prst="ellipse">
                <a:avLst/>
              </a:prstGeom>
              <a:solidFill>
                <a:srgbClr val="00b4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1" name="Google Shape;364;p21"/>
              <p:cNvSpPr/>
              <p:nvPr/>
            </p:nvSpPr>
            <p:spPr>
              <a:xfrm>
                <a:off x="8549640" y="350640"/>
                <a:ext cx="30240" cy="3024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312" name="Google Shape;365;p21" descr=""/>
            <p:cNvPicPr/>
            <p:nvPr/>
          </p:nvPicPr>
          <p:blipFill>
            <a:blip r:embed="rId2"/>
            <a:stretch/>
          </p:blipFill>
          <p:spPr>
            <a:xfrm>
              <a:off x="380880" y="714240"/>
              <a:ext cx="8381520" cy="187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13" name="Google Shape;366;p21"/>
          <p:cNvSpPr/>
          <p:nvPr/>
        </p:nvSpPr>
        <p:spPr>
          <a:xfrm>
            <a:off x="380880" y="190440"/>
            <a:ext cx="78102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850" strike="noStrike" u="non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Empowering Stakeholders with Structured Progression Insights</a:t>
            </a:r>
            <a:endParaRPr b="0" lang="en-IN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4" name="Google Shape;367;p21"/>
          <p:cNvGrpSpPr/>
          <p:nvPr/>
        </p:nvGrpSpPr>
        <p:grpSpPr>
          <a:xfrm>
            <a:off x="380880" y="857160"/>
            <a:ext cx="8381520" cy="1761840"/>
            <a:chOff x="380880" y="857160"/>
            <a:chExt cx="8381520" cy="1761840"/>
          </a:xfrm>
        </p:grpSpPr>
        <p:grpSp>
          <p:nvGrpSpPr>
            <p:cNvPr id="315" name="Google Shape;368;p21"/>
            <p:cNvGrpSpPr/>
            <p:nvPr/>
          </p:nvGrpSpPr>
          <p:grpSpPr>
            <a:xfrm>
              <a:off x="380880" y="857160"/>
              <a:ext cx="1980720" cy="1761840"/>
              <a:chOff x="380880" y="857160"/>
              <a:chExt cx="1980720" cy="1761840"/>
            </a:xfrm>
          </p:grpSpPr>
          <p:sp>
            <p:nvSpPr>
              <p:cNvPr id="316" name="Google Shape;369;p21"/>
              <p:cNvSpPr/>
              <p:nvPr/>
            </p:nvSpPr>
            <p:spPr>
              <a:xfrm>
                <a:off x="380880" y="857160"/>
                <a:ext cx="1980720" cy="1761840"/>
              </a:xfrm>
              <a:prstGeom prst="roundRect">
                <a:avLst>
                  <a:gd name="adj" fmla="val 6486"/>
                </a:avLst>
              </a:prstGeom>
              <a:solidFill>
                <a:srgbClr val="1c2541"/>
              </a:solidFill>
              <a:ln w="9525">
                <a:solidFill>
                  <a:srgbClr val="3a50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17" name="Google Shape;370;p21"/>
              <p:cNvGrpSpPr/>
              <p:nvPr/>
            </p:nvGrpSpPr>
            <p:grpSpPr>
              <a:xfrm>
                <a:off x="579960" y="1056240"/>
                <a:ext cx="219960" cy="188280"/>
                <a:chOff x="579960" y="1056240"/>
                <a:chExt cx="219960" cy="188280"/>
              </a:xfrm>
            </p:grpSpPr>
            <p:sp>
              <p:nvSpPr>
                <p:cNvPr id="318" name="Google Shape;371;p21"/>
                <p:cNvSpPr/>
                <p:nvPr/>
              </p:nvSpPr>
              <p:spPr>
                <a:xfrm>
                  <a:off x="632520" y="1066680"/>
                  <a:ext cx="167400" cy="167400"/>
                </a:xfrm>
                <a:custGeom>
                  <a:avLst/>
                  <a:gdLst>
                    <a:gd name="textAreaLeft" fmla="*/ 0 w 167400"/>
                    <a:gd name="textAreaRight" fmla="*/ 167760 w 167400"/>
                    <a:gd name="textAreaTop" fmla="*/ 0 h 167400"/>
                    <a:gd name="textAreaBottom" fmla="*/ 167760 h 167400"/>
                  </a:gdLst>
                  <a:ahLst/>
                  <a:cxnLst/>
                  <a:rect l="textAreaLeft" t="textAreaTop" r="textAreaRight" b="textAreaBottom"/>
                  <a:pathLst>
                    <a:path w="120000" h="120000">
                      <a:moveTo>
                        <a:pt x="60000" y="0"/>
                      </a:moveTo>
                      <a:lnTo>
                        <a:pt x="60000" y="120000"/>
                      </a:lnTo>
                      <a:moveTo>
                        <a:pt x="0" y="60000"/>
                      </a:moveTo>
                      <a:lnTo>
                        <a:pt x="120000" y="60000"/>
                      </a:lnTo>
                    </a:path>
                  </a:pathLst>
                </a:custGeom>
                <a:noFill/>
                <a:ln cap="rnd" w="19050">
                  <a:solidFill>
                    <a:srgbClr val="00b4d8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19" name="Google Shape;372;p21"/>
                <p:cNvSpPr/>
                <p:nvPr/>
              </p:nvSpPr>
              <p:spPr>
                <a:xfrm>
                  <a:off x="579960" y="1056240"/>
                  <a:ext cx="188280" cy="188280"/>
                </a:xfrm>
                <a:prstGeom prst="ellipse">
                  <a:avLst/>
                </a:prstGeom>
                <a:noFill/>
                <a:ln cap="rnd" w="19050">
                  <a:solidFill>
                    <a:srgbClr val="00b4d8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320" name="Google Shape;373;p21"/>
              <p:cNvSpPr/>
              <p:nvPr/>
            </p:nvSpPr>
            <p:spPr>
              <a:xfrm>
                <a:off x="533520" y="1314360"/>
                <a:ext cx="1676160" cy="1190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900" strike="noStrike" u="none">
                    <a:solidFill>
                      <a:srgbClr val="90e0ef"/>
                    </a:solidFill>
                    <a:effectLst/>
                    <a:uFillTx/>
                    <a:latin typeface="Roboto Mono Medium"/>
                    <a:ea typeface="Roboto Mono Medium"/>
                  </a:rPr>
                  <a:t>CLINICIANS</a:t>
                </a:r>
                <a:endParaRPr b="0" lang="en-IN" sz="9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  <a:tabLst>
                    <a:tab algn="l" pos="0"/>
                  </a:tabLst>
                </a:pPr>
                <a:r>
                  <a:rPr b="0" lang="en-GB" sz="1200" strike="noStrike" u="none">
                    <a:solidFill>
                      <a:srgbClr val="00b4d8"/>
                    </a:solidFill>
                    <a:effectLst/>
                    <a:uFillTx/>
                    <a:latin typeface="Inter SemiBold"/>
                    <a:ea typeface="Inter SemiBold"/>
                  </a:rPr>
                  <a:t>Structured Visuals</a:t>
                </a:r>
                <a:endParaRPr b="0" lang="en-IN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451"/>
                  </a:spcBef>
                  <a:tabLst>
                    <a:tab algn="l" pos="0"/>
                  </a:tabLst>
                </a:pPr>
                <a:r>
                  <a:rPr b="0" lang="en-GB" sz="100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Provides clinicians with structured visualizations of longitudinal MRI-derived patterns.</a:t>
                </a:r>
                <a:endPara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21" name="Google Shape;374;p21"/>
            <p:cNvGrpSpPr/>
            <p:nvPr/>
          </p:nvGrpSpPr>
          <p:grpSpPr>
            <a:xfrm>
              <a:off x="2514600" y="857160"/>
              <a:ext cx="1980720" cy="1761840"/>
              <a:chOff x="2514600" y="857160"/>
              <a:chExt cx="1980720" cy="1761840"/>
            </a:xfrm>
          </p:grpSpPr>
          <p:sp>
            <p:nvSpPr>
              <p:cNvPr id="322" name="Google Shape;375;p21"/>
              <p:cNvSpPr/>
              <p:nvPr/>
            </p:nvSpPr>
            <p:spPr>
              <a:xfrm>
                <a:off x="2514600" y="857160"/>
                <a:ext cx="1980720" cy="1761840"/>
              </a:xfrm>
              <a:prstGeom prst="roundRect">
                <a:avLst>
                  <a:gd name="adj" fmla="val 6486"/>
                </a:avLst>
              </a:prstGeom>
              <a:solidFill>
                <a:srgbClr val="1c2541"/>
              </a:solidFill>
              <a:ln w="9525">
                <a:solidFill>
                  <a:srgbClr val="3a50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23" name="Google Shape;376;p21"/>
              <p:cNvGrpSpPr/>
              <p:nvPr/>
            </p:nvGrpSpPr>
            <p:grpSpPr>
              <a:xfrm>
                <a:off x="2726640" y="1045800"/>
                <a:ext cx="162360" cy="198720"/>
                <a:chOff x="2726640" y="1045800"/>
                <a:chExt cx="162360" cy="198720"/>
              </a:xfrm>
            </p:grpSpPr>
            <p:sp>
              <p:nvSpPr>
                <p:cNvPr id="324" name="Google Shape;377;p21"/>
                <p:cNvSpPr/>
                <p:nvPr/>
              </p:nvSpPr>
              <p:spPr>
                <a:xfrm>
                  <a:off x="2726640" y="1045800"/>
                  <a:ext cx="162360" cy="198720"/>
                </a:xfrm>
                <a:custGeom>
                  <a:avLst/>
                  <a:gdLst>
                    <a:gd name="textAreaLeft" fmla="*/ 0 w 162360"/>
                    <a:gd name="textAreaRight" fmla="*/ 162720 w 162360"/>
                    <a:gd name="textAreaTop" fmla="*/ 0 h 198720"/>
                    <a:gd name="textAreaBottom" fmla="*/ 199080 h 198720"/>
                  </a:gdLst>
                  <a:ahLst/>
                  <a:cxnLst/>
                  <a:rect l="textAreaLeft" t="textAreaTop" r="textAreaRight" b="textAreaBottom"/>
                  <a:pathLst>
                    <a:path w="120000" h="120000">
                      <a:moveTo>
                        <a:pt x="44552" y="0"/>
                      </a:moveTo>
                      <a:lnTo>
                        <a:pt x="44552" y="47368"/>
                      </a:lnTo>
                      <a:lnTo>
                        <a:pt x="2071" y="101053"/>
                      </a:lnTo>
                      <a:cubicBezTo>
                        <a:pt x="-667" y="104930"/>
                        <a:pt x="-691" y="109702"/>
                        <a:pt x="2008" y="113598"/>
                      </a:cubicBezTo>
                      <a:cubicBezTo>
                        <a:pt x="4708" y="117493"/>
                        <a:pt x="9727" y="119928"/>
                        <a:pt x="15201" y="120000"/>
                      </a:cubicBezTo>
                      <a:lnTo>
                        <a:pt x="104799" y="120000"/>
                      </a:lnTo>
                      <a:cubicBezTo>
                        <a:pt x="110274" y="119928"/>
                        <a:pt x="115293" y="117493"/>
                        <a:pt x="117992" y="113597"/>
                      </a:cubicBezTo>
                      <a:cubicBezTo>
                        <a:pt x="120692" y="109702"/>
                        <a:pt x="120668" y="104930"/>
                        <a:pt x="117929" y="101053"/>
                      </a:cubicBezTo>
                      <a:lnTo>
                        <a:pt x="75448" y="47368"/>
                      </a:lnTo>
                      <a:lnTo>
                        <a:pt x="75448" y="0"/>
                      </a:lnTo>
                    </a:path>
                  </a:pathLst>
                </a:custGeom>
                <a:noFill/>
                <a:ln cap="rnd" w="19050">
                  <a:solidFill>
                    <a:srgbClr val="00b4d8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5" name="Google Shape;378;p21"/>
                <p:cNvSpPr/>
                <p:nvPr/>
              </p:nvSpPr>
              <p:spPr>
                <a:xfrm>
                  <a:off x="2771280" y="1045800"/>
                  <a:ext cx="73080" cy="36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360"/>
                    <a:gd name="textAreaBottom" fmla="*/ 720 h 360"/>
                  </a:gdLst>
                  <a:ahLst/>
                  <a:cxnLst/>
                  <a:rect l="textAreaLeft" t="textAreaTop" r="textAreaRight" b="textAreaBottom"/>
                  <a:pathLst>
                    <a:path w="120000" h="120000">
                      <a:moveTo>
                        <a:pt x="0" y="0"/>
                      </a:moveTo>
                      <a:lnTo>
                        <a:pt x="120000" y="0"/>
                      </a:lnTo>
                    </a:path>
                  </a:pathLst>
                </a:custGeom>
                <a:noFill/>
                <a:ln cap="rnd" w="19050">
                  <a:solidFill>
                    <a:srgbClr val="00b4d8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26" name="Google Shape;379;p21"/>
                <p:cNvSpPr/>
                <p:nvPr/>
              </p:nvSpPr>
              <p:spPr>
                <a:xfrm>
                  <a:off x="2755440" y="1192680"/>
                  <a:ext cx="104760" cy="360"/>
                </a:xfrm>
                <a:custGeom>
                  <a:avLst/>
                  <a:gdLst>
                    <a:gd name="textAreaLeft" fmla="*/ 0 w 104760"/>
                    <a:gd name="textAreaRight" fmla="*/ 105120 w 104760"/>
                    <a:gd name="textAreaTop" fmla="*/ 0 h 360"/>
                    <a:gd name="textAreaBottom" fmla="*/ 720 h 360"/>
                  </a:gdLst>
                  <a:ahLst/>
                  <a:cxnLst/>
                  <a:rect l="textAreaLeft" t="textAreaTop" r="textAreaRight" b="textAreaBottom"/>
                  <a:pathLst>
                    <a:path w="120000" h="120000">
                      <a:moveTo>
                        <a:pt x="0" y="0"/>
                      </a:moveTo>
                      <a:lnTo>
                        <a:pt x="120000" y="0"/>
                      </a:lnTo>
                    </a:path>
                  </a:pathLst>
                </a:custGeom>
                <a:noFill/>
                <a:ln cap="rnd" w="19050">
                  <a:solidFill>
                    <a:srgbClr val="00b4d8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327" name="Google Shape;380;p21"/>
              <p:cNvSpPr/>
              <p:nvPr/>
            </p:nvSpPr>
            <p:spPr>
              <a:xfrm>
                <a:off x="2666880" y="1314360"/>
                <a:ext cx="1676160" cy="1190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839" strike="noStrike" u="none">
                    <a:solidFill>
                      <a:srgbClr val="90e0ef"/>
                    </a:solidFill>
                    <a:effectLst/>
                    <a:uFillTx/>
                    <a:latin typeface="Roboto Mono Medium"/>
                    <a:ea typeface="Roboto Mono Medium"/>
                  </a:rPr>
                  <a:t>RESEARCHERS</a:t>
                </a:r>
                <a:endParaRPr b="0" lang="en-IN" sz="839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  <a:tabLst>
                    <a:tab algn="l" pos="0"/>
                  </a:tabLst>
                </a:pPr>
                <a:r>
                  <a:rPr b="0" lang="en-GB" sz="1110" strike="noStrike" u="none">
                    <a:solidFill>
                      <a:srgbClr val="00b4d8"/>
                    </a:solidFill>
                    <a:effectLst/>
                    <a:uFillTx/>
                    <a:latin typeface="Inter SemiBold"/>
                    <a:ea typeface="Inter SemiBold"/>
                  </a:rPr>
                  <a:t>Progression Framework</a:t>
                </a:r>
                <a:endParaRPr b="0" lang="en-IN" sz="111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451"/>
                  </a:spcBef>
                  <a:tabLst>
                    <a:tab algn="l" pos="0"/>
                  </a:tabLst>
                </a:pPr>
                <a:r>
                  <a:rPr b="0" lang="en-GB" sz="92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Offers researchers a robust framework for studying disease progression over time.</a:t>
                </a:r>
                <a:endParaRPr b="0" lang="en-IN" sz="92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28" name="Google Shape;381;p21"/>
            <p:cNvGrpSpPr/>
            <p:nvPr/>
          </p:nvGrpSpPr>
          <p:grpSpPr>
            <a:xfrm>
              <a:off x="4648320" y="857160"/>
              <a:ext cx="1980720" cy="1761840"/>
              <a:chOff x="4648320" y="857160"/>
              <a:chExt cx="1980720" cy="1761840"/>
            </a:xfrm>
          </p:grpSpPr>
          <p:sp>
            <p:nvSpPr>
              <p:cNvPr id="329" name="Google Shape;382;p21"/>
              <p:cNvSpPr/>
              <p:nvPr/>
            </p:nvSpPr>
            <p:spPr>
              <a:xfrm>
                <a:off x="4648320" y="857160"/>
                <a:ext cx="1980720" cy="1761840"/>
              </a:xfrm>
              <a:prstGeom prst="roundRect">
                <a:avLst>
                  <a:gd name="adj" fmla="val 6486"/>
                </a:avLst>
              </a:prstGeom>
              <a:solidFill>
                <a:srgbClr val="1c2541"/>
              </a:solidFill>
              <a:ln w="9525">
                <a:solidFill>
                  <a:srgbClr val="3a50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grpSp>
            <p:nvGrpSpPr>
              <p:cNvPr id="330" name="Google Shape;383;p21"/>
              <p:cNvGrpSpPr/>
              <p:nvPr/>
            </p:nvGrpSpPr>
            <p:grpSpPr>
              <a:xfrm>
                <a:off x="4847400" y="1056240"/>
                <a:ext cx="188280" cy="188280"/>
                <a:chOff x="4847400" y="1056240"/>
                <a:chExt cx="188280" cy="188280"/>
              </a:xfrm>
            </p:grpSpPr>
            <p:sp>
              <p:nvSpPr>
                <p:cNvPr id="331" name="Google Shape;384;p21"/>
                <p:cNvSpPr/>
                <p:nvPr/>
              </p:nvSpPr>
              <p:spPr>
                <a:xfrm>
                  <a:off x="4847400" y="1056240"/>
                  <a:ext cx="188280" cy="188280"/>
                </a:xfrm>
                <a:prstGeom prst="roundRect">
                  <a:avLst>
                    <a:gd name="adj" fmla="val 11111"/>
                  </a:avLst>
                </a:prstGeom>
                <a:noFill/>
                <a:ln cap="rnd" w="19050">
                  <a:solidFill>
                    <a:srgbClr val="00b4d8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2" name="Google Shape;385;p21"/>
                <p:cNvSpPr/>
                <p:nvPr/>
              </p:nvSpPr>
              <p:spPr>
                <a:xfrm>
                  <a:off x="4847400" y="1119240"/>
                  <a:ext cx="188280" cy="360"/>
                </a:xfrm>
                <a:custGeom>
                  <a:avLst/>
                  <a:gdLst>
                    <a:gd name="textAreaLeft" fmla="*/ 0 w 188280"/>
                    <a:gd name="textAreaRight" fmla="*/ 188640 w 188280"/>
                    <a:gd name="textAreaTop" fmla="*/ 0 h 360"/>
                    <a:gd name="textAreaBottom" fmla="*/ 720 h 360"/>
                  </a:gdLst>
                  <a:ahLst/>
                  <a:cxnLst/>
                  <a:rect l="textAreaLeft" t="textAreaTop" r="textAreaRight" b="textAreaBottom"/>
                  <a:pathLst>
                    <a:path w="120000" h="120000">
                      <a:moveTo>
                        <a:pt x="0" y="0"/>
                      </a:moveTo>
                      <a:lnTo>
                        <a:pt x="120000" y="0"/>
                      </a:lnTo>
                    </a:path>
                  </a:pathLst>
                </a:custGeom>
                <a:noFill/>
                <a:ln cap="rnd" w="19050">
                  <a:solidFill>
                    <a:srgbClr val="00b4d8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33" name="Google Shape;386;p21"/>
                <p:cNvSpPr/>
                <p:nvPr/>
              </p:nvSpPr>
              <p:spPr>
                <a:xfrm>
                  <a:off x="4910040" y="1119240"/>
                  <a:ext cx="360" cy="125280"/>
                </a:xfrm>
                <a:custGeom>
                  <a:avLst/>
                  <a:gdLst>
                    <a:gd name="textAreaLeft" fmla="*/ 0 w 360"/>
                    <a:gd name="textAreaRight" fmla="*/ 720 w 360"/>
                    <a:gd name="textAreaTop" fmla="*/ 0 h 125280"/>
                    <a:gd name="textAreaBottom" fmla="*/ 125640 h 125280"/>
                  </a:gdLst>
                  <a:ahLst/>
                  <a:cxnLst/>
                  <a:rect l="textAreaLeft" t="textAreaTop" r="textAreaRight" b="textAreaBottom"/>
                  <a:pathLst>
                    <a:path w="120000" h="120000">
                      <a:moveTo>
                        <a:pt x="0" y="1200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w="19050">
                  <a:solidFill>
                    <a:srgbClr val="00b4d8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334" name="Google Shape;387;p21"/>
              <p:cNvSpPr/>
              <p:nvPr/>
            </p:nvSpPr>
            <p:spPr>
              <a:xfrm>
                <a:off x="4800600" y="1314360"/>
                <a:ext cx="1676160" cy="1190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900" strike="noStrike" u="none">
                    <a:solidFill>
                      <a:srgbClr val="90e0ef"/>
                    </a:solidFill>
                    <a:effectLst/>
                    <a:uFillTx/>
                    <a:latin typeface="Roboto Mono Medium"/>
                    <a:ea typeface="Roboto Mono Medium"/>
                  </a:rPr>
                  <a:t>HEALTH SYSTEMS</a:t>
                </a:r>
                <a:endParaRPr b="0" lang="en-IN" sz="9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  <a:tabLst>
                    <a:tab algn="l" pos="0"/>
                  </a:tabLst>
                </a:pPr>
                <a:r>
                  <a:rPr b="0" lang="en-GB" sz="1200" strike="noStrike" u="none">
                    <a:solidFill>
                      <a:srgbClr val="00b4d8"/>
                    </a:solidFill>
                    <a:effectLst/>
                    <a:uFillTx/>
                    <a:latin typeface="Inter SemiBold"/>
                    <a:ea typeface="Inter SemiBold"/>
                  </a:rPr>
                  <a:t>Data Organization</a:t>
                </a:r>
                <a:endParaRPr b="0" lang="en-IN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451"/>
                  </a:spcBef>
                  <a:tabLst>
                    <a:tab algn="l" pos="0"/>
                  </a:tabLst>
                </a:pPr>
                <a:r>
                  <a:rPr b="0" lang="en-GB" sz="100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Supports healthcare systems in organizing complex longitudinal progression data effectively.</a:t>
                </a:r>
                <a:endPara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35" name="Google Shape;388;p21"/>
            <p:cNvGrpSpPr/>
            <p:nvPr/>
          </p:nvGrpSpPr>
          <p:grpSpPr>
            <a:xfrm>
              <a:off x="6781680" y="857160"/>
              <a:ext cx="1980720" cy="1761840"/>
              <a:chOff x="6781680" y="857160"/>
              <a:chExt cx="1980720" cy="1761840"/>
            </a:xfrm>
          </p:grpSpPr>
          <p:sp>
            <p:nvSpPr>
              <p:cNvPr id="336" name="Google Shape;389;p21"/>
              <p:cNvSpPr/>
              <p:nvPr/>
            </p:nvSpPr>
            <p:spPr>
              <a:xfrm>
                <a:off x="6781680" y="857160"/>
                <a:ext cx="1980720" cy="1761840"/>
              </a:xfrm>
              <a:prstGeom prst="roundRect">
                <a:avLst>
                  <a:gd name="adj" fmla="val 6486"/>
                </a:avLst>
              </a:prstGeom>
              <a:solidFill>
                <a:srgbClr val="1c2541"/>
              </a:solidFill>
              <a:ln w="9525">
                <a:solidFill>
                  <a:srgbClr val="3a50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7" name="Google Shape;390;p21"/>
              <p:cNvSpPr/>
              <p:nvPr/>
            </p:nvSpPr>
            <p:spPr>
              <a:xfrm>
                <a:off x="6970320" y="1056240"/>
                <a:ext cx="209160" cy="188280"/>
              </a:xfrm>
              <a:custGeom>
                <a:avLst/>
                <a:gdLst>
                  <a:gd name="textAreaLeft" fmla="*/ 0 w 209160"/>
                  <a:gd name="textAreaRight" fmla="*/ 209520 w 209160"/>
                  <a:gd name="textAreaTop" fmla="*/ 0 h 188280"/>
                  <a:gd name="textAreaBottom" fmla="*/ 188640 h 188280"/>
                </a:gdLst>
                <a:ahLst/>
                <a:cxnLst/>
                <a:rect l="textAreaLeft" t="textAreaTop" r="textAreaRight" b="textAreaBottom"/>
                <a:pathLst>
                  <a:path w="120000" h="120000">
                    <a:moveTo>
                      <a:pt x="102000" y="73333"/>
                    </a:moveTo>
                    <a:cubicBezTo>
                      <a:pt x="110940" y="63600"/>
                      <a:pt x="120000" y="51933"/>
                      <a:pt x="120000" y="36667"/>
                    </a:cubicBezTo>
                    <a:cubicBezTo>
                      <a:pt x="120000" y="26942"/>
                      <a:pt x="116523" y="17616"/>
                      <a:pt x="110335" y="10740"/>
                    </a:cubicBezTo>
                    <a:cubicBezTo>
                      <a:pt x="104146" y="3863"/>
                      <a:pt x="95752" y="0"/>
                      <a:pt x="87000" y="0"/>
                    </a:cubicBezTo>
                    <a:cubicBezTo>
                      <a:pt x="76440" y="0"/>
                      <a:pt x="69000" y="3333"/>
                      <a:pt x="60000" y="13333"/>
                    </a:cubicBezTo>
                    <a:cubicBezTo>
                      <a:pt x="51000" y="3333"/>
                      <a:pt x="43560" y="0"/>
                      <a:pt x="33000" y="0"/>
                    </a:cubicBezTo>
                    <a:cubicBezTo>
                      <a:pt x="14775" y="0"/>
                      <a:pt x="0" y="16416"/>
                      <a:pt x="0" y="36667"/>
                    </a:cubicBezTo>
                    <a:cubicBezTo>
                      <a:pt x="0" y="52000"/>
                      <a:pt x="9000" y="63667"/>
                      <a:pt x="18000" y="73333"/>
                    </a:cubicBezTo>
                    <a:lnTo>
                      <a:pt x="60000" y="120000"/>
                    </a:lnTo>
                    <a:close/>
                  </a:path>
                </a:pathLst>
              </a:custGeom>
              <a:noFill/>
              <a:ln cap="rnd" w="19050">
                <a:solidFill>
                  <a:srgbClr val="00b4d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8" name="Google Shape;391;p21"/>
              <p:cNvSpPr/>
              <p:nvPr/>
            </p:nvSpPr>
            <p:spPr>
              <a:xfrm>
                <a:off x="6934320" y="1314360"/>
                <a:ext cx="1676160" cy="1190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900" strike="noStrike" u="none">
                    <a:solidFill>
                      <a:srgbClr val="90e0ef"/>
                    </a:solidFill>
                    <a:effectLst/>
                    <a:uFillTx/>
                    <a:latin typeface="Roboto Mono Medium"/>
                    <a:ea typeface="Roboto Mono Medium"/>
                  </a:rPr>
                  <a:t>PATIENTS &amp; CAREGIVERS</a:t>
                </a:r>
                <a:endParaRPr b="0" lang="en-IN" sz="9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  <a:tabLst>
                    <a:tab algn="l" pos="0"/>
                  </a:tabLst>
                </a:pPr>
                <a:r>
                  <a:rPr b="0" lang="en-GB" sz="1200" strike="noStrike" u="none">
                    <a:solidFill>
                      <a:srgbClr val="00b4d8"/>
                    </a:solidFill>
                    <a:effectLst/>
                    <a:uFillTx/>
                    <a:latin typeface="Inter SemiBold"/>
                    <a:ea typeface="Inter SemiBold"/>
                  </a:rPr>
                  <a:t>Informed Monitoring</a:t>
                </a:r>
                <a:endParaRPr b="0" lang="en-IN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451"/>
                  </a:spcBef>
                  <a:tabLst>
                    <a:tab algn="l" pos="0"/>
                  </a:tabLst>
                </a:pPr>
                <a:r>
                  <a:rPr b="0" lang="en-GB" sz="1000" strike="noStrike" u="none">
                    <a:solidFill>
                      <a:srgbClr val="ffffff"/>
                    </a:solidFill>
                    <a:effectLst/>
                    <a:uFillTx/>
                    <a:latin typeface="Roboto"/>
                    <a:ea typeface="Roboto"/>
                  </a:rPr>
                  <a:t>Potentially enables better-informed monitoring and care management journeys.</a:t>
                </a:r>
                <a:endPara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339" name="Google Shape;392;p21"/>
          <p:cNvGrpSpPr/>
          <p:nvPr/>
        </p:nvGrpSpPr>
        <p:grpSpPr>
          <a:xfrm>
            <a:off x="380880" y="2762280"/>
            <a:ext cx="8381880" cy="1076040"/>
            <a:chOff x="380880" y="2762280"/>
            <a:chExt cx="8381880" cy="1076040"/>
          </a:xfrm>
        </p:grpSpPr>
        <p:sp>
          <p:nvSpPr>
            <p:cNvPr id="340" name="Google Shape;393;p21"/>
            <p:cNvSpPr/>
            <p:nvPr/>
          </p:nvSpPr>
          <p:spPr>
            <a:xfrm>
              <a:off x="380880" y="2762280"/>
              <a:ext cx="838152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200" strike="noStrike" u="none">
                  <a:solidFill>
                    <a:srgbClr val="00b4d8"/>
                  </a:solidFill>
                  <a:effectLst/>
                  <a:uFillTx/>
                  <a:latin typeface="Inter Medium"/>
                  <a:ea typeface="Inter Medium"/>
                </a:rPr>
                <a:t>Prototype Performance Evaluation Metrics</a:t>
              </a:r>
              <a:endPara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41" name="Google Shape;394;p21"/>
            <p:cNvGrpSpPr/>
            <p:nvPr/>
          </p:nvGrpSpPr>
          <p:grpSpPr>
            <a:xfrm>
              <a:off x="380880" y="3029040"/>
              <a:ext cx="8381880" cy="809280"/>
              <a:chOff x="380880" y="3029040"/>
              <a:chExt cx="8381880" cy="809280"/>
            </a:xfrm>
          </p:grpSpPr>
          <p:grpSp>
            <p:nvGrpSpPr>
              <p:cNvPr id="342" name="Google Shape;395;p21"/>
              <p:cNvGrpSpPr/>
              <p:nvPr/>
            </p:nvGrpSpPr>
            <p:grpSpPr>
              <a:xfrm>
                <a:off x="380880" y="3029040"/>
                <a:ext cx="1266480" cy="809280"/>
                <a:chOff x="380880" y="3029040"/>
                <a:chExt cx="1266480" cy="809280"/>
              </a:xfrm>
            </p:grpSpPr>
            <p:sp>
              <p:nvSpPr>
                <p:cNvPr id="343" name="Google Shape;396;p21"/>
                <p:cNvSpPr/>
                <p:nvPr/>
              </p:nvSpPr>
              <p:spPr>
                <a:xfrm>
                  <a:off x="380880" y="3029040"/>
                  <a:ext cx="1266480" cy="809280"/>
                </a:xfrm>
                <a:prstGeom prst="roundRect">
                  <a:avLst>
                    <a:gd name="adj" fmla="val 9411"/>
                  </a:avLst>
                </a:prstGeom>
                <a:solidFill>
                  <a:srgbClr val="2a3659"/>
                </a:solidFill>
                <a:ln w="9525">
                  <a:solidFill>
                    <a:srgbClr val="3a506b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4" name="Google Shape;397;p21"/>
                <p:cNvSpPr/>
                <p:nvPr/>
              </p:nvSpPr>
              <p:spPr>
                <a:xfrm>
                  <a:off x="495360" y="3143160"/>
                  <a:ext cx="1037880" cy="580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GB" sz="800" strike="noStrike" u="none">
                      <a:solidFill>
                        <a:srgbClr val="90e0ef"/>
                      </a:solidFill>
                      <a:effectLst/>
                      <a:uFillTx/>
                      <a:latin typeface="Roboto Mono Medium"/>
                      <a:ea typeface="Roboto Mono Medium"/>
                    </a:rPr>
                    <a:t>ACCURACY</a:t>
                  </a:r>
                  <a:endParaRPr b="0" lang="en-IN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50"/>
                    </a:spcBef>
                    <a:tabLst>
                      <a:tab algn="l" pos="0"/>
                    </a:tabLst>
                  </a:pPr>
                  <a:r>
                    <a:rPr b="1" lang="en-GB" sz="1100" strike="noStrike" u="none">
                      <a:solidFill>
                        <a:srgbClr val="48cae4"/>
                      </a:solidFill>
                      <a:effectLst/>
                      <a:uFillTx/>
                      <a:latin typeface="Inter"/>
                      <a:ea typeface="Inter"/>
                    </a:rPr>
                    <a:t>To Be Measured</a:t>
                  </a:r>
                  <a:endParaRPr b="0" lang="en-IN" sz="11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45" name="Google Shape;398;p21"/>
              <p:cNvGrpSpPr/>
              <p:nvPr/>
            </p:nvGrpSpPr>
            <p:grpSpPr>
              <a:xfrm>
                <a:off x="1800360" y="3029040"/>
                <a:ext cx="1266480" cy="809280"/>
                <a:chOff x="1800360" y="3029040"/>
                <a:chExt cx="1266480" cy="809280"/>
              </a:xfrm>
            </p:grpSpPr>
            <p:sp>
              <p:nvSpPr>
                <p:cNvPr id="346" name="Google Shape;399;p21"/>
                <p:cNvSpPr/>
                <p:nvPr/>
              </p:nvSpPr>
              <p:spPr>
                <a:xfrm>
                  <a:off x="1800360" y="3029040"/>
                  <a:ext cx="1266480" cy="809280"/>
                </a:xfrm>
                <a:prstGeom prst="roundRect">
                  <a:avLst>
                    <a:gd name="adj" fmla="val 9411"/>
                  </a:avLst>
                </a:prstGeom>
                <a:solidFill>
                  <a:srgbClr val="2a3659"/>
                </a:solidFill>
                <a:ln w="9525">
                  <a:solidFill>
                    <a:srgbClr val="3a506b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7" name="Google Shape;400;p21"/>
                <p:cNvSpPr/>
                <p:nvPr/>
              </p:nvSpPr>
              <p:spPr>
                <a:xfrm>
                  <a:off x="1914480" y="3143160"/>
                  <a:ext cx="1037880" cy="580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GB" sz="800" strike="noStrike" u="none">
                      <a:solidFill>
                        <a:srgbClr val="90e0ef"/>
                      </a:solidFill>
                      <a:effectLst/>
                      <a:uFillTx/>
                      <a:latin typeface="Roboto Mono Medium"/>
                      <a:ea typeface="Roboto Mono Medium"/>
                    </a:rPr>
                    <a:t>PRECISION</a:t>
                  </a:r>
                  <a:endParaRPr b="0" lang="en-IN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50"/>
                    </a:spcBef>
                    <a:tabLst>
                      <a:tab algn="l" pos="0"/>
                    </a:tabLst>
                  </a:pPr>
                  <a:r>
                    <a:rPr b="1" lang="en-GB" sz="1100" strike="noStrike" u="none">
                      <a:solidFill>
                        <a:srgbClr val="48cae4"/>
                      </a:solidFill>
                      <a:effectLst/>
                      <a:uFillTx/>
                      <a:latin typeface="Inter"/>
                      <a:ea typeface="Inter"/>
                    </a:rPr>
                    <a:t>To Be Measured</a:t>
                  </a:r>
                  <a:endParaRPr b="0" lang="en-IN" sz="11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48" name="Google Shape;401;p21"/>
              <p:cNvGrpSpPr/>
              <p:nvPr/>
            </p:nvGrpSpPr>
            <p:grpSpPr>
              <a:xfrm>
                <a:off x="3219480" y="3029040"/>
                <a:ext cx="1266480" cy="809280"/>
                <a:chOff x="3219480" y="3029040"/>
                <a:chExt cx="1266480" cy="809280"/>
              </a:xfrm>
            </p:grpSpPr>
            <p:sp>
              <p:nvSpPr>
                <p:cNvPr id="349" name="Google Shape;402;p21"/>
                <p:cNvSpPr/>
                <p:nvPr/>
              </p:nvSpPr>
              <p:spPr>
                <a:xfrm>
                  <a:off x="3219480" y="3029040"/>
                  <a:ext cx="1266480" cy="809280"/>
                </a:xfrm>
                <a:prstGeom prst="roundRect">
                  <a:avLst>
                    <a:gd name="adj" fmla="val 9411"/>
                  </a:avLst>
                </a:prstGeom>
                <a:solidFill>
                  <a:srgbClr val="2a3659"/>
                </a:solidFill>
                <a:ln w="9525">
                  <a:solidFill>
                    <a:srgbClr val="3a506b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0" name="Google Shape;403;p21"/>
                <p:cNvSpPr/>
                <p:nvPr/>
              </p:nvSpPr>
              <p:spPr>
                <a:xfrm>
                  <a:off x="3333600" y="3143160"/>
                  <a:ext cx="1037880" cy="580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GB" sz="800" strike="noStrike" u="none">
                      <a:solidFill>
                        <a:srgbClr val="90e0ef"/>
                      </a:solidFill>
                      <a:effectLst/>
                      <a:uFillTx/>
                      <a:latin typeface="Roboto Mono Medium"/>
                      <a:ea typeface="Roboto Mono Medium"/>
                    </a:rPr>
                    <a:t>RECALL</a:t>
                  </a:r>
                  <a:endParaRPr b="0" lang="en-IN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50"/>
                    </a:spcBef>
                    <a:tabLst>
                      <a:tab algn="l" pos="0"/>
                    </a:tabLst>
                  </a:pPr>
                  <a:r>
                    <a:rPr b="1" lang="en-GB" sz="1100" strike="noStrike" u="none">
                      <a:solidFill>
                        <a:srgbClr val="48cae4"/>
                      </a:solidFill>
                      <a:effectLst/>
                      <a:uFillTx/>
                      <a:latin typeface="Inter"/>
                      <a:ea typeface="Inter"/>
                    </a:rPr>
                    <a:t>To Be Measured</a:t>
                  </a:r>
                  <a:endParaRPr b="0" lang="en-IN" sz="11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51" name="Google Shape;404;p21"/>
              <p:cNvGrpSpPr/>
              <p:nvPr/>
            </p:nvGrpSpPr>
            <p:grpSpPr>
              <a:xfrm>
                <a:off x="4638600" y="3029040"/>
                <a:ext cx="1266480" cy="809280"/>
                <a:chOff x="4638600" y="3029040"/>
                <a:chExt cx="1266480" cy="809280"/>
              </a:xfrm>
            </p:grpSpPr>
            <p:sp>
              <p:nvSpPr>
                <p:cNvPr id="352" name="Google Shape;405;p21"/>
                <p:cNvSpPr/>
                <p:nvPr/>
              </p:nvSpPr>
              <p:spPr>
                <a:xfrm>
                  <a:off x="4638600" y="3029040"/>
                  <a:ext cx="1266480" cy="809280"/>
                </a:xfrm>
                <a:prstGeom prst="roundRect">
                  <a:avLst>
                    <a:gd name="adj" fmla="val 9411"/>
                  </a:avLst>
                </a:prstGeom>
                <a:solidFill>
                  <a:srgbClr val="2a3659"/>
                </a:solidFill>
                <a:ln w="9525">
                  <a:solidFill>
                    <a:srgbClr val="3a506b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3" name="Google Shape;406;p21"/>
                <p:cNvSpPr/>
                <p:nvPr/>
              </p:nvSpPr>
              <p:spPr>
                <a:xfrm>
                  <a:off x="4753080" y="3143160"/>
                  <a:ext cx="1037880" cy="580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GB" sz="800" strike="noStrike" u="none">
                      <a:solidFill>
                        <a:srgbClr val="90e0ef"/>
                      </a:solidFill>
                      <a:effectLst/>
                      <a:uFillTx/>
                      <a:latin typeface="Roboto Mono Medium"/>
                      <a:ea typeface="Roboto Mono Medium"/>
                    </a:rPr>
                    <a:t>F1-SCORE</a:t>
                  </a:r>
                  <a:endParaRPr b="0" lang="en-IN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50"/>
                    </a:spcBef>
                    <a:tabLst>
                      <a:tab algn="l" pos="0"/>
                    </a:tabLst>
                  </a:pPr>
                  <a:r>
                    <a:rPr b="1" lang="en-GB" sz="1100" strike="noStrike" u="none">
                      <a:solidFill>
                        <a:srgbClr val="48cae4"/>
                      </a:solidFill>
                      <a:effectLst/>
                      <a:uFillTx/>
                      <a:latin typeface="Inter"/>
                      <a:ea typeface="Inter"/>
                    </a:rPr>
                    <a:t>To Be Measured</a:t>
                  </a:r>
                  <a:endParaRPr b="0" lang="en-IN" sz="11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54" name="Google Shape;407;p21"/>
              <p:cNvGrpSpPr/>
              <p:nvPr/>
            </p:nvGrpSpPr>
            <p:grpSpPr>
              <a:xfrm>
                <a:off x="6058080" y="3029040"/>
                <a:ext cx="1266480" cy="809280"/>
                <a:chOff x="6058080" y="3029040"/>
                <a:chExt cx="1266480" cy="809280"/>
              </a:xfrm>
            </p:grpSpPr>
            <p:sp>
              <p:nvSpPr>
                <p:cNvPr id="355" name="Google Shape;408;p21"/>
                <p:cNvSpPr/>
                <p:nvPr/>
              </p:nvSpPr>
              <p:spPr>
                <a:xfrm>
                  <a:off x="6058080" y="3029040"/>
                  <a:ext cx="1266480" cy="809280"/>
                </a:xfrm>
                <a:prstGeom prst="roundRect">
                  <a:avLst>
                    <a:gd name="adj" fmla="val 9411"/>
                  </a:avLst>
                </a:prstGeom>
                <a:solidFill>
                  <a:srgbClr val="2a3659"/>
                </a:solidFill>
                <a:ln w="9525">
                  <a:solidFill>
                    <a:srgbClr val="3a506b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6" name="Google Shape;409;p21"/>
                <p:cNvSpPr/>
                <p:nvPr/>
              </p:nvSpPr>
              <p:spPr>
                <a:xfrm>
                  <a:off x="6172200" y="3143160"/>
                  <a:ext cx="1037880" cy="580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GB" sz="800" strike="noStrike" u="none">
                      <a:solidFill>
                        <a:srgbClr val="90e0ef"/>
                      </a:solidFill>
                      <a:effectLst/>
                      <a:uFillTx/>
                      <a:latin typeface="Roboto Mono Medium"/>
                      <a:ea typeface="Roboto Mono Medium"/>
                    </a:rPr>
                    <a:t>ROC-AUC</a:t>
                  </a:r>
                  <a:endParaRPr b="0" lang="en-IN" sz="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50"/>
                    </a:spcBef>
                    <a:tabLst>
                      <a:tab algn="l" pos="0"/>
                    </a:tabLst>
                  </a:pPr>
                  <a:r>
                    <a:rPr b="1" lang="en-GB" sz="1100" strike="noStrike" u="none">
                      <a:solidFill>
                        <a:srgbClr val="48cae4"/>
                      </a:solidFill>
                      <a:effectLst/>
                      <a:uFillTx/>
                      <a:latin typeface="Inter"/>
                      <a:ea typeface="Inter"/>
                    </a:rPr>
                    <a:t>To Be Measured</a:t>
                  </a:r>
                  <a:endParaRPr b="0" lang="en-IN" sz="11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57" name="Google Shape;410;p21"/>
              <p:cNvGrpSpPr/>
              <p:nvPr/>
            </p:nvGrpSpPr>
            <p:grpSpPr>
              <a:xfrm>
                <a:off x="7477200" y="3029040"/>
                <a:ext cx="1285560" cy="809280"/>
                <a:chOff x="7477200" y="3029040"/>
                <a:chExt cx="1285560" cy="809280"/>
              </a:xfrm>
            </p:grpSpPr>
            <p:sp>
              <p:nvSpPr>
                <p:cNvPr id="358" name="Google Shape;411;p21"/>
                <p:cNvSpPr/>
                <p:nvPr/>
              </p:nvSpPr>
              <p:spPr>
                <a:xfrm>
                  <a:off x="7477200" y="3029040"/>
                  <a:ext cx="1285560" cy="809280"/>
                </a:xfrm>
                <a:prstGeom prst="roundRect">
                  <a:avLst>
                    <a:gd name="adj" fmla="val 9411"/>
                  </a:avLst>
                </a:prstGeom>
                <a:solidFill>
                  <a:srgbClr val="2a3659"/>
                </a:solidFill>
                <a:ln w="9525">
                  <a:solidFill>
                    <a:srgbClr val="3a506b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IN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9" name="Google Shape;412;p21"/>
                <p:cNvSpPr/>
                <p:nvPr/>
              </p:nvSpPr>
              <p:spPr>
                <a:xfrm>
                  <a:off x="7553160" y="3143160"/>
                  <a:ext cx="1132920" cy="580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en-GB" sz="750" strike="noStrike" u="none">
                      <a:solidFill>
                        <a:srgbClr val="90e0ef"/>
                      </a:solidFill>
                      <a:effectLst/>
                      <a:uFillTx/>
                      <a:latin typeface="Roboto Mono Medium"/>
                      <a:ea typeface="Roboto Mono Medium"/>
                    </a:rPr>
                    <a:t>LONGITUDINAL / CALIBRATION</a:t>
                  </a:r>
                  <a:endParaRPr b="0" lang="en-IN" sz="75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algn="ctr">
                    <a:lnSpc>
                      <a:spcPct val="100000"/>
                    </a:lnSpc>
                    <a:spcBef>
                      <a:spcPts val="150"/>
                    </a:spcBef>
                    <a:tabLst>
                      <a:tab algn="l" pos="0"/>
                    </a:tabLst>
                  </a:pPr>
                  <a:r>
                    <a:rPr b="1" lang="en-GB" sz="1100" strike="noStrike" u="none">
                      <a:solidFill>
                        <a:srgbClr val="48cae4"/>
                      </a:solidFill>
                      <a:effectLst/>
                      <a:uFillTx/>
                      <a:latin typeface="Inter"/>
                      <a:ea typeface="Inter"/>
                    </a:rPr>
                    <a:t>To Be Measured</a:t>
                  </a:r>
                  <a:endParaRPr b="0" lang="en-IN" sz="11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</p:grpSp>
      <p:grpSp>
        <p:nvGrpSpPr>
          <p:cNvPr id="360" name="Google Shape;413;p21"/>
          <p:cNvGrpSpPr/>
          <p:nvPr/>
        </p:nvGrpSpPr>
        <p:grpSpPr>
          <a:xfrm>
            <a:off x="376200" y="4519440"/>
            <a:ext cx="8391240" cy="409320"/>
            <a:chOff x="376200" y="4519440"/>
            <a:chExt cx="8391240" cy="409320"/>
          </a:xfrm>
        </p:grpSpPr>
        <p:pic>
          <p:nvPicPr>
            <p:cNvPr id="361" name="Google Shape;414;p21" descr=""/>
            <p:cNvPicPr/>
            <p:nvPr/>
          </p:nvPicPr>
          <p:blipFill>
            <a:blip r:embed="rId3"/>
            <a:stretch/>
          </p:blipFill>
          <p:spPr>
            <a:xfrm>
              <a:off x="376200" y="4519440"/>
              <a:ext cx="8391240" cy="409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62" name="Google Shape;415;p21"/>
            <p:cNvSpPr/>
            <p:nvPr/>
          </p:nvSpPr>
          <p:spPr>
            <a:xfrm>
              <a:off x="533520" y="4600440"/>
              <a:ext cx="8076960" cy="24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-GB" sz="950" strike="noStrike" u="none">
                  <a:solidFill>
                    <a:srgbClr val="00b4d8"/>
                  </a:solidFill>
                  <a:effectLst/>
                  <a:uFillTx/>
                  <a:latin typeface="Roboto"/>
                  <a:ea typeface="Roboto"/>
                </a:rPr>
                <a:t>Note:</a:t>
              </a:r>
              <a:r>
                <a:rPr b="0" lang="en-GB" sz="95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 Clinical usefulness and deployment will require future validation on independent, clinically representative datasets.</a:t>
              </a:r>
              <a:endParaRPr b="0" lang="en-IN" sz="9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420;p22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64" name="Google Shape;421;p22"/>
          <p:cNvGrpSpPr/>
          <p:nvPr/>
        </p:nvGrpSpPr>
        <p:grpSpPr>
          <a:xfrm>
            <a:off x="8412480" y="259200"/>
            <a:ext cx="304560" cy="304560"/>
            <a:chOff x="8412480" y="259200"/>
            <a:chExt cx="304560" cy="304560"/>
          </a:xfrm>
        </p:grpSpPr>
        <p:sp>
          <p:nvSpPr>
            <p:cNvPr id="365" name="Google Shape;422;p22"/>
            <p:cNvSpPr/>
            <p:nvPr/>
          </p:nvSpPr>
          <p:spPr>
            <a:xfrm>
              <a:off x="8412480" y="259200"/>
              <a:ext cx="304560" cy="304560"/>
            </a:xfrm>
            <a:prstGeom prst="ellipse">
              <a:avLst/>
            </a:prstGeom>
            <a:noFill/>
            <a:ln w="19050">
              <a:solidFill>
                <a:srgbClr val="00b4d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6" name="Google Shape;423;p22"/>
            <p:cNvSpPr/>
            <p:nvPr/>
          </p:nvSpPr>
          <p:spPr>
            <a:xfrm>
              <a:off x="8503920" y="320040"/>
              <a:ext cx="121680" cy="91080"/>
            </a:xfrm>
            <a:custGeom>
              <a:avLst/>
              <a:gdLst>
                <a:gd name="textAreaLeft" fmla="*/ 0 w 121680"/>
                <a:gd name="textAreaRight" fmla="*/ 122040 w 121680"/>
                <a:gd name="textAreaTop" fmla="*/ 0 h 91080"/>
                <a:gd name="textAreaBottom" fmla="*/ 91440 h 91080"/>
              </a:gdLst>
              <a:ahLst/>
              <a:cxnLst/>
              <a:rect l="textAreaLeft" t="textAreaTop" r="textAreaRight" b="textAreaBottom"/>
              <a:pathLst>
                <a:path w="120000" h="120000">
                  <a:moveTo>
                    <a:pt x="0" y="120000"/>
                  </a:moveTo>
                  <a:quadBezTo>
                    <a:pt x="60000" y="0"/>
                    <a:pt x="120000" y="120000"/>
                  </a:quadBezTo>
                  <a:lnTo>
                    <a:pt x="0" y="120000"/>
                  </a:lnTo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Google Shape;424;p22"/>
            <p:cNvSpPr/>
            <p:nvPr/>
          </p:nvSpPr>
          <p:spPr>
            <a:xfrm>
              <a:off x="8481240" y="388800"/>
              <a:ext cx="45360" cy="45360"/>
            </a:xfrm>
            <a:prstGeom prst="ellipse">
              <a:avLst/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Google Shape;425;p22"/>
            <p:cNvSpPr/>
            <p:nvPr/>
          </p:nvSpPr>
          <p:spPr>
            <a:xfrm>
              <a:off x="8602920" y="388800"/>
              <a:ext cx="45360" cy="45360"/>
            </a:xfrm>
            <a:prstGeom prst="ellipse">
              <a:avLst/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Google Shape;426;p22"/>
            <p:cNvSpPr/>
            <p:nvPr/>
          </p:nvSpPr>
          <p:spPr>
            <a:xfrm>
              <a:off x="8549640" y="350640"/>
              <a:ext cx="30240" cy="302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370" name="Google Shape;427;p22" descr=""/>
          <p:cNvPicPr/>
          <p:nvPr/>
        </p:nvPicPr>
        <p:blipFill>
          <a:blip r:embed="rId2"/>
          <a:stretch/>
        </p:blipFill>
        <p:spPr>
          <a:xfrm>
            <a:off x="380880" y="743040"/>
            <a:ext cx="8381520" cy="1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Google Shape;428;p22"/>
          <p:cNvSpPr/>
          <p:nvPr/>
        </p:nvSpPr>
        <p:spPr>
          <a:xfrm>
            <a:off x="380880" y="171360"/>
            <a:ext cx="78102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1850" strike="noStrike" u="none">
                <a:solidFill>
                  <a:srgbClr val="ffffff"/>
                </a:solidFill>
                <a:effectLst/>
                <a:uFillTx/>
                <a:latin typeface="Inter"/>
                <a:ea typeface="Inter"/>
              </a:rPr>
              <a:t>Expanding Beyond the Prototype</a:t>
            </a:r>
            <a:endParaRPr b="0" lang="en-IN" sz="1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GB" sz="1200" strike="noStrike" u="none">
                <a:solidFill>
                  <a:srgbClr val="00b4d8"/>
                </a:solidFill>
                <a:effectLst/>
                <a:uFillTx/>
                <a:latin typeface="Inter Medium"/>
                <a:ea typeface="Inter Medium"/>
              </a:rPr>
              <a:t>Toward Multimodal Clinical Integration &amp; Future Scalability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2" name="Google Shape;429;p22"/>
          <p:cNvGrpSpPr/>
          <p:nvPr/>
        </p:nvGrpSpPr>
        <p:grpSpPr>
          <a:xfrm>
            <a:off x="2757600" y="1390680"/>
            <a:ext cx="3628440" cy="2838240"/>
            <a:chOff x="2757600" y="1390680"/>
            <a:chExt cx="3628440" cy="2838240"/>
          </a:xfrm>
        </p:grpSpPr>
        <p:pic>
          <p:nvPicPr>
            <p:cNvPr id="373" name="Google Shape;430;p22" descr=""/>
            <p:cNvPicPr/>
            <p:nvPr/>
          </p:nvPicPr>
          <p:blipFill>
            <a:blip r:embed="rId3"/>
            <a:stretch/>
          </p:blipFill>
          <p:spPr>
            <a:xfrm>
              <a:off x="2757600" y="1390680"/>
              <a:ext cx="394920" cy="1328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74" name="Google Shape;431;p22" descr=""/>
            <p:cNvPicPr/>
            <p:nvPr/>
          </p:nvPicPr>
          <p:blipFill>
            <a:blip r:embed="rId4"/>
            <a:stretch/>
          </p:blipFill>
          <p:spPr>
            <a:xfrm>
              <a:off x="2771640" y="2800440"/>
              <a:ext cx="371160" cy="18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75" name="Google Shape;432;p22" descr=""/>
            <p:cNvPicPr/>
            <p:nvPr/>
          </p:nvPicPr>
          <p:blipFill>
            <a:blip r:embed="rId5"/>
            <a:stretch/>
          </p:blipFill>
          <p:spPr>
            <a:xfrm>
              <a:off x="2757600" y="2900520"/>
              <a:ext cx="394920" cy="1328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76" name="Google Shape;433;p22" descr=""/>
            <p:cNvPicPr/>
            <p:nvPr/>
          </p:nvPicPr>
          <p:blipFill>
            <a:blip r:embed="rId6"/>
            <a:stretch/>
          </p:blipFill>
          <p:spPr>
            <a:xfrm>
              <a:off x="5991120" y="1390680"/>
              <a:ext cx="394920" cy="1328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77" name="Google Shape;434;p22" descr=""/>
            <p:cNvPicPr/>
            <p:nvPr/>
          </p:nvPicPr>
          <p:blipFill>
            <a:blip r:embed="rId7"/>
            <a:stretch/>
          </p:blipFill>
          <p:spPr>
            <a:xfrm>
              <a:off x="6000840" y="2800440"/>
              <a:ext cx="371160" cy="18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78" name="Google Shape;435;p22" descr=""/>
            <p:cNvPicPr/>
            <p:nvPr/>
          </p:nvPicPr>
          <p:blipFill>
            <a:blip r:embed="rId8"/>
            <a:stretch/>
          </p:blipFill>
          <p:spPr>
            <a:xfrm>
              <a:off x="5991120" y="2900520"/>
              <a:ext cx="394920" cy="1328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79" name="Google Shape;436;p22"/>
          <p:cNvGrpSpPr/>
          <p:nvPr/>
        </p:nvGrpSpPr>
        <p:grpSpPr>
          <a:xfrm>
            <a:off x="2733840" y="1352520"/>
            <a:ext cx="3676320" cy="2914560"/>
            <a:chOff x="2733840" y="1352520"/>
            <a:chExt cx="3676320" cy="2914560"/>
          </a:xfrm>
        </p:grpSpPr>
        <p:sp>
          <p:nvSpPr>
            <p:cNvPr id="380" name="Google Shape;437;p22"/>
            <p:cNvSpPr/>
            <p:nvPr/>
          </p:nvSpPr>
          <p:spPr>
            <a:xfrm>
              <a:off x="2733840" y="1352520"/>
              <a:ext cx="56880" cy="56880"/>
            </a:xfrm>
            <a:prstGeom prst="ellipse">
              <a:avLst/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Google Shape;438;p22"/>
            <p:cNvSpPr/>
            <p:nvPr/>
          </p:nvSpPr>
          <p:spPr>
            <a:xfrm>
              <a:off x="2733840" y="2781360"/>
              <a:ext cx="56880" cy="56880"/>
            </a:xfrm>
            <a:prstGeom prst="ellipse">
              <a:avLst/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2" name="Google Shape;439;p22"/>
            <p:cNvSpPr/>
            <p:nvPr/>
          </p:nvSpPr>
          <p:spPr>
            <a:xfrm>
              <a:off x="2733840" y="4210200"/>
              <a:ext cx="56880" cy="56880"/>
            </a:xfrm>
            <a:prstGeom prst="ellipse">
              <a:avLst/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3" name="Google Shape;440;p22"/>
            <p:cNvSpPr/>
            <p:nvPr/>
          </p:nvSpPr>
          <p:spPr>
            <a:xfrm>
              <a:off x="6353280" y="1352520"/>
              <a:ext cx="56880" cy="56880"/>
            </a:xfrm>
            <a:prstGeom prst="ellipse">
              <a:avLst/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Google Shape;441;p22"/>
            <p:cNvSpPr/>
            <p:nvPr/>
          </p:nvSpPr>
          <p:spPr>
            <a:xfrm>
              <a:off x="6353280" y="2781360"/>
              <a:ext cx="56880" cy="56880"/>
            </a:xfrm>
            <a:prstGeom prst="ellipse">
              <a:avLst/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Google Shape;442;p22"/>
            <p:cNvSpPr/>
            <p:nvPr/>
          </p:nvSpPr>
          <p:spPr>
            <a:xfrm>
              <a:off x="6353280" y="4210200"/>
              <a:ext cx="56880" cy="56880"/>
            </a:xfrm>
            <a:prstGeom prst="ellipse">
              <a:avLst/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6" name="Google Shape;443;p22"/>
          <p:cNvGrpSpPr/>
          <p:nvPr/>
        </p:nvGrpSpPr>
        <p:grpSpPr>
          <a:xfrm>
            <a:off x="3143160" y="2095560"/>
            <a:ext cx="2857320" cy="1428480"/>
            <a:chOff x="3143160" y="2095560"/>
            <a:chExt cx="2857320" cy="1428480"/>
          </a:xfrm>
        </p:grpSpPr>
        <p:sp>
          <p:nvSpPr>
            <p:cNvPr id="387" name="Google Shape;444;p22"/>
            <p:cNvSpPr/>
            <p:nvPr/>
          </p:nvSpPr>
          <p:spPr>
            <a:xfrm>
              <a:off x="3143160" y="2095560"/>
              <a:ext cx="2857320" cy="1428480"/>
            </a:xfrm>
            <a:prstGeom prst="roundRect">
              <a:avLst>
                <a:gd name="adj" fmla="val 10666"/>
              </a:avLst>
            </a:prstGeom>
            <a:solidFill>
              <a:srgbClr val="1c2541"/>
            </a:solidFill>
            <a:ln w="23825">
              <a:solidFill>
                <a:srgbClr val="00b4d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Google Shape;445;p22"/>
            <p:cNvSpPr/>
            <p:nvPr/>
          </p:nvSpPr>
          <p:spPr>
            <a:xfrm>
              <a:off x="3143160" y="2095560"/>
              <a:ext cx="2857320" cy="228240"/>
            </a:xfrm>
            <a:custGeom>
              <a:avLst/>
              <a:gdLst>
                <a:gd name="textAreaLeft" fmla="*/ 0 w 2857320"/>
                <a:gd name="textAreaRight" fmla="*/ 2857680 w 2857320"/>
                <a:gd name="textAreaTop" fmla="*/ 0 h 228240"/>
                <a:gd name="textAreaBottom" fmla="*/ 228600 h 228240"/>
              </a:gdLst>
              <a:ahLst/>
              <a:cxnLst/>
              <a:rect l="textAreaLeft" t="textAreaTop" r="textAreaRight" b="textAreaBottom"/>
              <a:pathLst>
                <a:path w="120000" h="120000">
                  <a:moveTo>
                    <a:pt x="6400" y="0"/>
                  </a:moveTo>
                  <a:lnTo>
                    <a:pt x="113600" y="0"/>
                  </a:lnTo>
                  <a:cubicBezTo>
                    <a:pt x="117135" y="0"/>
                    <a:pt x="120000" y="35817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lnTo>
                    <a:pt x="0" y="80000"/>
                  </a:lnTo>
                  <a:cubicBezTo>
                    <a:pt x="0" y="35817"/>
                    <a:pt x="2865" y="0"/>
                    <a:pt x="6400" y="0"/>
                  </a:cubicBezTo>
                  <a:close/>
                </a:path>
              </a:pathLst>
            </a:custGeom>
            <a:solidFill>
              <a:srgbClr val="00b4d8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Google Shape;446;p22"/>
            <p:cNvSpPr/>
            <p:nvPr/>
          </p:nvSpPr>
          <p:spPr>
            <a:xfrm>
              <a:off x="3333600" y="2266920"/>
              <a:ext cx="2476080" cy="108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-GB" sz="770" strike="noStrike" u="none">
                  <a:solidFill>
                    <a:srgbClr val="00b4d8"/>
                  </a:solidFill>
                  <a:effectLst/>
                  <a:uFillTx/>
                  <a:latin typeface="Roboto Mono"/>
                  <a:ea typeface="Roboto Mono"/>
                </a:rPr>
                <a:t>CORE FOUNDATION</a:t>
              </a:r>
              <a:endParaRPr b="0" lang="en-IN" sz="7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1" lang="en-GB" sz="1280" strike="noStrike" u="none">
                  <a:solidFill>
                    <a:srgbClr val="ffffff"/>
                  </a:solidFill>
                  <a:effectLst/>
                  <a:uFillTx/>
                  <a:latin typeface="Inter"/>
                  <a:ea typeface="Inter"/>
                </a:rPr>
                <a:t>Current MVP: Longitudinal MRI</a:t>
              </a:r>
              <a:endParaRPr b="0" lang="en-IN" sz="128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0" lang="en-GB" sz="90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Single &amp; multi-timeframe structural MRI feature extraction and trajectory modeling engine.</a:t>
              </a:r>
              <a:endParaRPr b="0" lang="en-IN" sz="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0" name="Google Shape;447;p22"/>
          <p:cNvGrpSpPr/>
          <p:nvPr/>
        </p:nvGrpSpPr>
        <p:grpSpPr>
          <a:xfrm>
            <a:off x="380880" y="952560"/>
            <a:ext cx="2381040" cy="857160"/>
            <a:chOff x="380880" y="952560"/>
            <a:chExt cx="2381040" cy="857160"/>
          </a:xfrm>
        </p:grpSpPr>
        <p:sp>
          <p:nvSpPr>
            <p:cNvPr id="391" name="Google Shape;448;p22"/>
            <p:cNvSpPr/>
            <p:nvPr/>
          </p:nvSpPr>
          <p:spPr>
            <a:xfrm>
              <a:off x="380880" y="952560"/>
              <a:ext cx="2381040" cy="857160"/>
            </a:xfrm>
            <a:prstGeom prst="roundRect">
              <a:avLst>
                <a:gd name="adj" fmla="val 13333"/>
              </a:avLst>
            </a:prstGeom>
            <a:solidFill>
              <a:srgbClr val="2a3659"/>
            </a:solidFill>
            <a:ln w="14300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Google Shape;449;p22"/>
            <p:cNvSpPr/>
            <p:nvPr/>
          </p:nvSpPr>
          <p:spPr>
            <a:xfrm>
              <a:off x="533520" y="1066680"/>
              <a:ext cx="2076120" cy="62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77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01. EXPANSION</a:t>
              </a:r>
              <a:endParaRPr b="0" lang="en-IN" sz="7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1020" strike="noStrike" u="none">
                  <a:solidFill>
                    <a:srgbClr val="ffffff"/>
                  </a:solidFill>
                  <a:effectLst/>
                  <a:uFillTx/>
                  <a:latin typeface="Inter SemiBold"/>
                  <a:ea typeface="Inter SemiBold"/>
                </a:rPr>
                <a:t>Multimodal AI</a:t>
              </a:r>
              <a:endParaRPr b="0" lang="en-IN" sz="10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85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Integrates MRI scans with cognitive assessments &amp; clinical variables.</a:t>
              </a:r>
              <a:endParaRPr b="0" lang="en-IN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3" name="Google Shape;450;p22"/>
          <p:cNvGrpSpPr/>
          <p:nvPr/>
        </p:nvGrpSpPr>
        <p:grpSpPr>
          <a:xfrm>
            <a:off x="380880" y="2381400"/>
            <a:ext cx="2381040" cy="857160"/>
            <a:chOff x="380880" y="2381400"/>
            <a:chExt cx="2381040" cy="857160"/>
          </a:xfrm>
        </p:grpSpPr>
        <p:sp>
          <p:nvSpPr>
            <p:cNvPr id="394" name="Google Shape;451;p22"/>
            <p:cNvSpPr/>
            <p:nvPr/>
          </p:nvSpPr>
          <p:spPr>
            <a:xfrm>
              <a:off x="380880" y="2381400"/>
              <a:ext cx="2381040" cy="857160"/>
            </a:xfrm>
            <a:prstGeom prst="roundRect">
              <a:avLst>
                <a:gd name="adj" fmla="val 13333"/>
              </a:avLst>
            </a:prstGeom>
            <a:solidFill>
              <a:srgbClr val="2a3659"/>
            </a:solidFill>
            <a:ln w="14300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Google Shape;452;p22"/>
            <p:cNvSpPr/>
            <p:nvPr/>
          </p:nvSpPr>
          <p:spPr>
            <a:xfrm>
              <a:off x="533520" y="2495520"/>
              <a:ext cx="2076120" cy="62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77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02. PRIVACY &amp; GOVERNANCE</a:t>
              </a:r>
              <a:endParaRPr b="0" lang="en-IN" sz="7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1020" strike="noStrike" u="none">
                  <a:solidFill>
                    <a:srgbClr val="ffffff"/>
                  </a:solidFill>
                  <a:effectLst/>
                  <a:uFillTx/>
                  <a:latin typeface="Inter SemiBold"/>
                  <a:ea typeface="Inter SemiBold"/>
                </a:rPr>
                <a:t>Federated Learning</a:t>
              </a:r>
              <a:endParaRPr b="0" lang="en-IN" sz="10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85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Privacy-preserving decentralized training across institutional silos.</a:t>
              </a:r>
              <a:endParaRPr b="0" lang="en-IN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6" name="Google Shape;453;p22"/>
          <p:cNvGrpSpPr/>
          <p:nvPr/>
        </p:nvGrpSpPr>
        <p:grpSpPr>
          <a:xfrm>
            <a:off x="380880" y="3809880"/>
            <a:ext cx="2381040" cy="857160"/>
            <a:chOff x="380880" y="3809880"/>
            <a:chExt cx="2381040" cy="857160"/>
          </a:xfrm>
        </p:grpSpPr>
        <p:sp>
          <p:nvSpPr>
            <p:cNvPr id="397" name="Google Shape;454;p22"/>
            <p:cNvSpPr/>
            <p:nvPr/>
          </p:nvSpPr>
          <p:spPr>
            <a:xfrm>
              <a:off x="380880" y="3809880"/>
              <a:ext cx="2381040" cy="857160"/>
            </a:xfrm>
            <a:prstGeom prst="roundRect">
              <a:avLst>
                <a:gd name="adj" fmla="val 13333"/>
              </a:avLst>
            </a:prstGeom>
            <a:solidFill>
              <a:srgbClr val="2a3659"/>
            </a:solidFill>
            <a:ln w="14300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Google Shape;455;p22"/>
            <p:cNvSpPr/>
            <p:nvPr/>
          </p:nvSpPr>
          <p:spPr>
            <a:xfrm>
              <a:off x="533520" y="3924360"/>
              <a:ext cx="2076120" cy="62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77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03. WORKFLOW</a:t>
              </a:r>
              <a:endParaRPr b="0" lang="en-IN" sz="7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1020" strike="noStrike" u="none">
                  <a:solidFill>
                    <a:srgbClr val="ffffff"/>
                  </a:solidFill>
                  <a:effectLst/>
                  <a:uFillTx/>
                  <a:latin typeface="Inter SemiBold"/>
                  <a:ea typeface="Inter SemiBold"/>
                </a:rPr>
                <a:t>Direct EHR Integration</a:t>
              </a:r>
              <a:endParaRPr b="0" lang="en-IN" sz="10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85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Seamless clinician-facing record systems &amp; decision support.</a:t>
              </a:r>
              <a:endParaRPr b="0" lang="en-IN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9" name="Google Shape;456;p22"/>
          <p:cNvGrpSpPr/>
          <p:nvPr/>
        </p:nvGrpSpPr>
        <p:grpSpPr>
          <a:xfrm>
            <a:off x="6381720" y="952560"/>
            <a:ext cx="2381040" cy="857160"/>
            <a:chOff x="6381720" y="952560"/>
            <a:chExt cx="2381040" cy="857160"/>
          </a:xfrm>
        </p:grpSpPr>
        <p:sp>
          <p:nvSpPr>
            <p:cNvPr id="400" name="Google Shape;457;p22"/>
            <p:cNvSpPr/>
            <p:nvPr/>
          </p:nvSpPr>
          <p:spPr>
            <a:xfrm>
              <a:off x="6381720" y="952560"/>
              <a:ext cx="2381040" cy="857160"/>
            </a:xfrm>
            <a:prstGeom prst="roundRect">
              <a:avLst>
                <a:gd name="adj" fmla="val 13333"/>
              </a:avLst>
            </a:prstGeom>
            <a:solidFill>
              <a:srgbClr val="2a3659"/>
            </a:solidFill>
            <a:ln w="14300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Google Shape;458;p22"/>
            <p:cNvSpPr/>
            <p:nvPr/>
          </p:nvSpPr>
          <p:spPr>
            <a:xfrm>
              <a:off x="6534000" y="1066680"/>
              <a:ext cx="2076120" cy="62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77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04. SCALE</a:t>
              </a:r>
              <a:endParaRPr b="0" lang="en-IN" sz="7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1020" strike="noStrike" u="none">
                  <a:solidFill>
                    <a:srgbClr val="ffffff"/>
                  </a:solidFill>
                  <a:effectLst/>
                  <a:uFillTx/>
                  <a:latin typeface="Inter SemiBold"/>
                  <a:ea typeface="Inter SemiBold"/>
                </a:rPr>
                <a:t>Larger, Diverse Datasets</a:t>
              </a:r>
              <a:endParaRPr b="0" lang="en-IN" sz="10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85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Enhanced demographic diversity &amp; refined temporal modeling.</a:t>
              </a:r>
              <a:endParaRPr b="0" lang="en-IN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2" name="Google Shape;459;p22"/>
          <p:cNvGrpSpPr/>
          <p:nvPr/>
        </p:nvGrpSpPr>
        <p:grpSpPr>
          <a:xfrm>
            <a:off x="6381720" y="2381400"/>
            <a:ext cx="2381040" cy="857160"/>
            <a:chOff x="6381720" y="2381400"/>
            <a:chExt cx="2381040" cy="857160"/>
          </a:xfrm>
        </p:grpSpPr>
        <p:sp>
          <p:nvSpPr>
            <p:cNvPr id="403" name="Google Shape;460;p22"/>
            <p:cNvSpPr/>
            <p:nvPr/>
          </p:nvSpPr>
          <p:spPr>
            <a:xfrm>
              <a:off x="6381720" y="2381400"/>
              <a:ext cx="2381040" cy="857160"/>
            </a:xfrm>
            <a:prstGeom prst="roundRect">
              <a:avLst>
                <a:gd name="adj" fmla="val 13333"/>
              </a:avLst>
            </a:prstGeom>
            <a:solidFill>
              <a:srgbClr val="2a3659"/>
            </a:solidFill>
            <a:ln w="14300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Google Shape;461;p22"/>
            <p:cNvSpPr/>
            <p:nvPr/>
          </p:nvSpPr>
          <p:spPr>
            <a:xfrm>
              <a:off x="6534000" y="2495520"/>
              <a:ext cx="2076120" cy="62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77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05. PRECISION</a:t>
              </a:r>
              <a:endParaRPr b="0" lang="en-IN" sz="7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1020" strike="noStrike" u="none">
                  <a:solidFill>
                    <a:srgbClr val="ffffff"/>
                  </a:solidFill>
                  <a:effectLst/>
                  <a:uFillTx/>
                  <a:latin typeface="Inter SemiBold"/>
                  <a:ea typeface="Inter SemiBold"/>
                </a:rPr>
                <a:t>Personalized Trajectories</a:t>
              </a:r>
              <a:endParaRPr b="0" lang="en-IN" sz="10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85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Individualized disease progression forecasts &amp; risk scoring.</a:t>
              </a:r>
              <a:endParaRPr b="0" lang="en-IN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5" name="Google Shape;462;p22"/>
          <p:cNvGrpSpPr/>
          <p:nvPr/>
        </p:nvGrpSpPr>
        <p:grpSpPr>
          <a:xfrm>
            <a:off x="6381720" y="3809880"/>
            <a:ext cx="2381040" cy="857160"/>
            <a:chOff x="6381720" y="3809880"/>
            <a:chExt cx="2381040" cy="857160"/>
          </a:xfrm>
        </p:grpSpPr>
        <p:sp>
          <p:nvSpPr>
            <p:cNvPr id="406" name="Google Shape;463;p22"/>
            <p:cNvSpPr/>
            <p:nvPr/>
          </p:nvSpPr>
          <p:spPr>
            <a:xfrm>
              <a:off x="6381720" y="3809880"/>
              <a:ext cx="2381040" cy="857160"/>
            </a:xfrm>
            <a:prstGeom prst="roundRect">
              <a:avLst>
                <a:gd name="adj" fmla="val 13333"/>
              </a:avLst>
            </a:prstGeom>
            <a:solidFill>
              <a:srgbClr val="2a3659"/>
            </a:solidFill>
            <a:ln w="14300">
              <a:solidFill>
                <a:srgbClr val="3a50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7" name="Google Shape;464;p22"/>
            <p:cNvSpPr/>
            <p:nvPr/>
          </p:nvSpPr>
          <p:spPr>
            <a:xfrm>
              <a:off x="6534000" y="3924360"/>
              <a:ext cx="2076120" cy="62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770" strike="noStrike" u="none">
                  <a:solidFill>
                    <a:srgbClr val="90e0ef"/>
                  </a:solidFill>
                  <a:effectLst/>
                  <a:uFillTx/>
                  <a:latin typeface="Roboto Mono Medium"/>
                  <a:ea typeface="Roboto Mono Medium"/>
                </a:rPr>
                <a:t>06. RIGOR</a:t>
              </a:r>
              <a:endParaRPr b="0" lang="en-IN" sz="77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1020" strike="noStrike" u="none">
                  <a:solidFill>
                    <a:srgbClr val="ffffff"/>
                  </a:solidFill>
                  <a:effectLst/>
                  <a:uFillTx/>
                  <a:latin typeface="Inter SemiBold"/>
                  <a:ea typeface="Inter SemiBold"/>
                </a:rPr>
                <a:t>External Validation</a:t>
              </a:r>
              <a:endParaRPr b="0" lang="en-IN" sz="10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85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Multi-center external validation &amp; prospective clinical trials.</a:t>
              </a:r>
              <a:endParaRPr b="0" lang="en-IN" sz="8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69;p23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09" name="Google Shape;470;p23"/>
          <p:cNvGrpSpPr/>
          <p:nvPr/>
        </p:nvGrpSpPr>
        <p:grpSpPr>
          <a:xfrm>
            <a:off x="566640" y="-1433520"/>
            <a:ext cx="8010360" cy="6576480"/>
            <a:chOff x="566640" y="-1433520"/>
            <a:chExt cx="8010360" cy="6576480"/>
          </a:xfrm>
        </p:grpSpPr>
        <p:pic>
          <p:nvPicPr>
            <p:cNvPr id="410" name="Google Shape;471;p23" descr=""/>
            <p:cNvPicPr/>
            <p:nvPr/>
          </p:nvPicPr>
          <p:blipFill>
            <a:blip r:embed="rId2"/>
            <a:stretch/>
          </p:blipFill>
          <p:spPr>
            <a:xfrm>
              <a:off x="2090880" y="90360"/>
              <a:ext cx="4962240" cy="4962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11" name="Google Shape;472;p23" descr=""/>
            <p:cNvPicPr/>
            <p:nvPr/>
          </p:nvPicPr>
          <p:blipFill>
            <a:blip r:embed="rId3"/>
            <a:stretch/>
          </p:blipFill>
          <p:spPr>
            <a:xfrm>
              <a:off x="566640" y="-1433520"/>
              <a:ext cx="8010360" cy="65764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12" name="Google Shape;473;p23"/>
            <p:cNvGrpSpPr/>
            <p:nvPr/>
          </p:nvGrpSpPr>
          <p:grpSpPr>
            <a:xfrm>
              <a:off x="4157640" y="205920"/>
              <a:ext cx="342720" cy="342720"/>
              <a:chOff x="4157640" y="205920"/>
              <a:chExt cx="342720" cy="342720"/>
            </a:xfrm>
          </p:grpSpPr>
          <p:sp>
            <p:nvSpPr>
              <p:cNvPr id="413" name="Google Shape;474;p23"/>
              <p:cNvSpPr/>
              <p:nvPr/>
            </p:nvSpPr>
            <p:spPr>
              <a:xfrm>
                <a:off x="4157640" y="205920"/>
                <a:ext cx="342720" cy="342720"/>
              </a:xfrm>
              <a:prstGeom prst="ellipse">
                <a:avLst/>
              </a:prstGeom>
              <a:noFill/>
              <a:ln w="19050">
                <a:solidFill>
                  <a:srgbClr val="00b4d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4" name="Google Shape;475;p23"/>
              <p:cNvSpPr/>
              <p:nvPr/>
            </p:nvSpPr>
            <p:spPr>
              <a:xfrm>
                <a:off x="4260600" y="274320"/>
                <a:ext cx="136800" cy="102600"/>
              </a:xfrm>
              <a:custGeom>
                <a:avLst/>
                <a:gdLst>
                  <a:gd name="textAreaLeft" fmla="*/ 0 w 136800"/>
                  <a:gd name="textAreaRight" fmla="*/ 137160 w 136800"/>
                  <a:gd name="textAreaTop" fmla="*/ 0 h 102600"/>
                  <a:gd name="textAreaBottom" fmla="*/ 102960 h 102600"/>
                </a:gdLst>
                <a:ahLst/>
                <a:cxnLst/>
                <a:rect l="textAreaLeft" t="textAreaTop" r="textAreaRight" b="textAreaBottom"/>
                <a:pathLst>
                  <a:path w="120000" h="120000">
                    <a:moveTo>
                      <a:pt x="0" y="120000"/>
                    </a:moveTo>
                    <a:quadBezTo>
                      <a:pt x="60000" y="0"/>
                      <a:pt x="120000" y="120000"/>
                    </a:quadBezTo>
                    <a:lnTo>
                      <a:pt x="0" y="1200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5" name="Google Shape;476;p23"/>
              <p:cNvSpPr/>
              <p:nvPr/>
            </p:nvSpPr>
            <p:spPr>
              <a:xfrm>
                <a:off x="4234680" y="351360"/>
                <a:ext cx="51120" cy="51120"/>
              </a:xfrm>
              <a:prstGeom prst="ellipse">
                <a:avLst/>
              </a:prstGeom>
              <a:solidFill>
                <a:srgbClr val="00b4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6" name="Google Shape;477;p23"/>
              <p:cNvSpPr/>
              <p:nvPr/>
            </p:nvSpPr>
            <p:spPr>
              <a:xfrm>
                <a:off x="4371840" y="351360"/>
                <a:ext cx="51120" cy="51120"/>
              </a:xfrm>
              <a:prstGeom prst="ellipse">
                <a:avLst/>
              </a:prstGeom>
              <a:solidFill>
                <a:srgbClr val="00b4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7" name="Google Shape;478;p23"/>
              <p:cNvSpPr/>
              <p:nvPr/>
            </p:nvSpPr>
            <p:spPr>
              <a:xfrm>
                <a:off x="4312080" y="308520"/>
                <a:ext cx="33840" cy="3384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18" name="Google Shape;479;p23"/>
          <p:cNvGrpSpPr/>
          <p:nvPr/>
        </p:nvGrpSpPr>
        <p:grpSpPr>
          <a:xfrm>
            <a:off x="376200" y="709560"/>
            <a:ext cx="8391240" cy="961920"/>
            <a:chOff x="376200" y="709560"/>
            <a:chExt cx="8391240" cy="961920"/>
          </a:xfrm>
        </p:grpSpPr>
        <p:pic>
          <p:nvPicPr>
            <p:cNvPr id="419" name="Google Shape;480;p23" descr=""/>
            <p:cNvPicPr/>
            <p:nvPr/>
          </p:nvPicPr>
          <p:blipFill>
            <a:blip r:embed="rId4"/>
            <a:stretch/>
          </p:blipFill>
          <p:spPr>
            <a:xfrm>
              <a:off x="376200" y="709560"/>
              <a:ext cx="8391240" cy="961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20" name="Google Shape;481;p23"/>
            <p:cNvSpPr/>
            <p:nvPr/>
          </p:nvSpPr>
          <p:spPr>
            <a:xfrm>
              <a:off x="533520" y="876240"/>
              <a:ext cx="37800" cy="628560"/>
            </a:xfrm>
            <a:prstGeom prst="roundRect">
              <a:avLst>
                <a:gd name="adj" fmla="val 50000"/>
              </a:avLst>
            </a:prstGeom>
            <a:solidFill>
              <a:srgbClr val="00b4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Google Shape;482;p23"/>
            <p:cNvSpPr/>
            <p:nvPr/>
          </p:nvSpPr>
          <p:spPr>
            <a:xfrm>
              <a:off x="723960" y="857160"/>
              <a:ext cx="7810200" cy="66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i="1" lang="en-GB" sz="2000" strike="noStrike" u="none">
                  <a:solidFill>
                    <a:srgbClr val="ffffff"/>
                  </a:solidFill>
                  <a:effectLst/>
                  <a:uFillTx/>
                  <a:latin typeface="Inter SemiBold"/>
                  <a:ea typeface="Inter SemiBold"/>
                </a:rPr>
                <a:t>“Don't Just Analyze the Scan. Understand the Change.”</a:t>
              </a:r>
              <a:endPara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2" name="Google Shape;483;p23"/>
          <p:cNvGrpSpPr/>
          <p:nvPr/>
        </p:nvGrpSpPr>
        <p:grpSpPr>
          <a:xfrm>
            <a:off x="380880" y="1847880"/>
            <a:ext cx="8381520" cy="2447640"/>
            <a:chOff x="380880" y="1847880"/>
            <a:chExt cx="8381520" cy="2447640"/>
          </a:xfrm>
        </p:grpSpPr>
        <p:grpSp>
          <p:nvGrpSpPr>
            <p:cNvPr id="423" name="Google Shape;484;p23"/>
            <p:cNvGrpSpPr/>
            <p:nvPr/>
          </p:nvGrpSpPr>
          <p:grpSpPr>
            <a:xfrm>
              <a:off x="380880" y="1857240"/>
              <a:ext cx="2666520" cy="2428560"/>
              <a:chOff x="380880" y="1857240"/>
              <a:chExt cx="2666520" cy="2428560"/>
            </a:xfrm>
          </p:grpSpPr>
          <p:sp>
            <p:nvSpPr>
              <p:cNvPr id="424" name="Google Shape;485;p23"/>
              <p:cNvSpPr/>
              <p:nvPr/>
            </p:nvSpPr>
            <p:spPr>
              <a:xfrm>
                <a:off x="380880" y="1857240"/>
                <a:ext cx="2666520" cy="2428560"/>
              </a:xfrm>
              <a:prstGeom prst="roundRect">
                <a:avLst>
                  <a:gd name="adj" fmla="val 5490"/>
                </a:avLst>
              </a:prstGeom>
              <a:solidFill>
                <a:srgbClr val="1c2541"/>
              </a:solidFill>
              <a:ln w="9525">
                <a:solidFill>
                  <a:srgbClr val="3a50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Google Shape;486;p23"/>
              <p:cNvSpPr/>
              <p:nvPr/>
            </p:nvSpPr>
            <p:spPr>
              <a:xfrm>
                <a:off x="380880" y="1857240"/>
                <a:ext cx="2666520" cy="37800"/>
              </a:xfrm>
              <a:prstGeom prst="roundRect">
                <a:avLst>
                  <a:gd name="adj" fmla="val 50000"/>
                </a:avLst>
              </a:prstGeom>
              <a:solidFill>
                <a:srgbClr val="3a50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Google Shape;487;p23"/>
              <p:cNvSpPr/>
              <p:nvPr/>
            </p:nvSpPr>
            <p:spPr>
              <a:xfrm>
                <a:off x="571680" y="2048040"/>
                <a:ext cx="2285640" cy="2047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100" strike="noStrike" u="none">
                    <a:solidFill>
                      <a:srgbClr val="90e0ef"/>
                    </a:solidFill>
                    <a:effectLst/>
                    <a:uFillTx/>
                    <a:latin typeface="Roboto Mono Medium"/>
                    <a:ea typeface="Roboto Mono Medium"/>
                  </a:rPr>
                  <a:t>PROBLEM</a:t>
                </a:r>
                <a:endParaRPr b="0" lang="en-IN" sz="11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601"/>
                  </a:spcBef>
                  <a:tabLst>
                    <a:tab algn="l" pos="0"/>
                  </a:tabLst>
                </a:pPr>
                <a:r>
                  <a:rPr b="1" lang="en-GB" sz="1600" strike="noStrike" u="none">
                    <a:solidFill>
                      <a:srgbClr val="ffffff"/>
                    </a:solidFill>
                    <a:effectLst/>
                    <a:uFillTx/>
                    <a:latin typeface="Inter"/>
                    <a:ea typeface="Inter"/>
                  </a:rPr>
                  <a:t>Static Snapshots</a:t>
                </a:r>
                <a:endParaRPr b="0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751"/>
                  </a:spcBef>
                  <a:tabLst>
                    <a:tab algn="l" pos="0"/>
                  </a:tabLst>
                </a:pPr>
                <a:r>
                  <a:rPr b="0" lang="en-GB" sz="1200" strike="noStrike" u="none">
                    <a:solidFill>
                      <a:srgbClr val="d0e0e3"/>
                    </a:solidFill>
                    <a:effectLst/>
                    <a:uFillTx/>
                    <a:latin typeface="Roboto"/>
                    <a:ea typeface="Roboto"/>
                  </a:rPr>
                  <a:t>Alzheimer's progression changes over time; single MRI scans only provide isolated snapshots of a dynamic disease.</a:t>
                </a:r>
                <a:endParaRPr b="0" lang="en-IN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27" name="Google Shape;488;p23"/>
            <p:cNvGrpSpPr/>
            <p:nvPr/>
          </p:nvGrpSpPr>
          <p:grpSpPr>
            <a:xfrm>
              <a:off x="3228840" y="1847880"/>
              <a:ext cx="2685960" cy="2447640"/>
              <a:chOff x="3228840" y="1847880"/>
              <a:chExt cx="2685960" cy="2447640"/>
            </a:xfrm>
          </p:grpSpPr>
          <p:pic>
            <p:nvPicPr>
              <p:cNvPr id="428" name="Google Shape;489;p23" descr=""/>
              <p:cNvPicPr/>
              <p:nvPr/>
            </p:nvPicPr>
            <p:blipFill>
              <a:blip r:embed="rId5"/>
              <a:stretch/>
            </p:blipFill>
            <p:spPr>
              <a:xfrm>
                <a:off x="3228840" y="1847880"/>
                <a:ext cx="2685960" cy="2447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29" name="Google Shape;490;p23"/>
              <p:cNvSpPr/>
              <p:nvPr/>
            </p:nvSpPr>
            <p:spPr>
              <a:xfrm>
                <a:off x="3238560" y="1857240"/>
                <a:ext cx="2666520" cy="37800"/>
              </a:xfrm>
              <a:prstGeom prst="roundRect">
                <a:avLst>
                  <a:gd name="adj" fmla="val 50000"/>
                </a:avLst>
              </a:prstGeom>
              <a:solidFill>
                <a:srgbClr val="00b4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0" name="Google Shape;491;p23"/>
              <p:cNvSpPr/>
              <p:nvPr/>
            </p:nvSpPr>
            <p:spPr>
              <a:xfrm>
                <a:off x="3429000" y="2048040"/>
                <a:ext cx="2285640" cy="2047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1" lang="en-GB" sz="1100" strike="noStrike" u="none">
                    <a:solidFill>
                      <a:srgbClr val="00b4d8"/>
                    </a:solidFill>
                    <a:effectLst/>
                    <a:uFillTx/>
                    <a:latin typeface="Roboto Mono"/>
                    <a:ea typeface="Roboto Mono"/>
                  </a:rPr>
                  <a:t>SOLUTION</a:t>
                </a:r>
                <a:endParaRPr b="0" lang="en-IN" sz="11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601"/>
                  </a:spcBef>
                  <a:tabLst>
                    <a:tab algn="l" pos="0"/>
                  </a:tabLst>
                </a:pPr>
                <a:r>
                  <a:rPr b="1" lang="en-GB" sz="1600" strike="noStrike" u="none">
                    <a:solidFill>
                      <a:srgbClr val="ffffff"/>
                    </a:solidFill>
                    <a:effectLst/>
                    <a:uFillTx/>
                    <a:latin typeface="Inter"/>
                    <a:ea typeface="Inter"/>
                  </a:rPr>
                  <a:t>Temporal Modeling</a:t>
                </a:r>
                <a:endParaRPr b="0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751"/>
                  </a:spcBef>
                  <a:tabLst>
                    <a:tab algn="l" pos="0"/>
                  </a:tabLst>
                </a:pPr>
                <a:r>
                  <a:rPr b="0" lang="en-GB" sz="1200" strike="noStrike" u="none">
                    <a:solidFill>
                      <a:srgbClr val="d0e0e3"/>
                    </a:solidFill>
                    <a:effectLst/>
                    <a:uFillTx/>
                    <a:latin typeface="Roboto"/>
                    <a:ea typeface="Roboto"/>
                  </a:rPr>
                  <a:t>NeuroPredict AI solves this by analyzing longitudinal MRI-derived features using deep learning and temporal modeling.</a:t>
                </a:r>
                <a:endParaRPr b="0" lang="en-IN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31" name="Google Shape;492;p23"/>
            <p:cNvGrpSpPr/>
            <p:nvPr/>
          </p:nvGrpSpPr>
          <p:grpSpPr>
            <a:xfrm>
              <a:off x="6095880" y="1857240"/>
              <a:ext cx="2666520" cy="2428560"/>
              <a:chOff x="6095880" y="1857240"/>
              <a:chExt cx="2666520" cy="2428560"/>
            </a:xfrm>
          </p:grpSpPr>
          <p:sp>
            <p:nvSpPr>
              <p:cNvPr id="432" name="Google Shape;493;p23"/>
              <p:cNvSpPr/>
              <p:nvPr/>
            </p:nvSpPr>
            <p:spPr>
              <a:xfrm>
                <a:off x="6095880" y="1857240"/>
                <a:ext cx="2666520" cy="2428560"/>
              </a:xfrm>
              <a:prstGeom prst="roundRect">
                <a:avLst>
                  <a:gd name="adj" fmla="val 5490"/>
                </a:avLst>
              </a:prstGeom>
              <a:solidFill>
                <a:srgbClr val="1c2541"/>
              </a:solidFill>
              <a:ln w="9525">
                <a:solidFill>
                  <a:srgbClr val="3a50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Google Shape;494;p23"/>
              <p:cNvSpPr/>
              <p:nvPr/>
            </p:nvSpPr>
            <p:spPr>
              <a:xfrm>
                <a:off x="6095880" y="1857240"/>
                <a:ext cx="2666520" cy="37800"/>
              </a:xfrm>
              <a:prstGeom prst="roundRect">
                <a:avLst>
                  <a:gd name="adj" fmla="val 50000"/>
                </a:avLst>
              </a:prstGeom>
              <a:solidFill>
                <a:srgbClr val="48ca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Google Shape;495;p23"/>
              <p:cNvSpPr/>
              <p:nvPr/>
            </p:nvSpPr>
            <p:spPr>
              <a:xfrm>
                <a:off x="6286680" y="2048040"/>
                <a:ext cx="2285640" cy="2047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GB" sz="1100" strike="noStrike" u="none">
                    <a:solidFill>
                      <a:srgbClr val="90e0ef"/>
                    </a:solidFill>
                    <a:effectLst/>
                    <a:uFillTx/>
                    <a:latin typeface="Roboto Mono Medium"/>
                    <a:ea typeface="Roboto Mono Medium"/>
                  </a:rPr>
                  <a:t>VISION</a:t>
                </a:r>
                <a:endParaRPr b="0" lang="en-IN" sz="11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601"/>
                  </a:spcBef>
                  <a:tabLst>
                    <a:tab algn="l" pos="0"/>
                  </a:tabLst>
                </a:pPr>
                <a:r>
                  <a:rPr b="1" lang="en-GB" sz="1600" strike="noStrike" u="none">
                    <a:solidFill>
                      <a:srgbClr val="ffffff"/>
                    </a:solidFill>
                    <a:effectLst/>
                    <a:uFillTx/>
                    <a:latin typeface="Inter"/>
                    <a:ea typeface="Inter"/>
                  </a:rPr>
                  <a:t>Longitudinal Story</a:t>
                </a:r>
                <a:endParaRPr b="0" lang="en-IN" sz="16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751"/>
                  </a:spcBef>
                  <a:tabLst>
                    <a:tab algn="l" pos="0"/>
                  </a:tabLst>
                </a:pPr>
                <a:r>
                  <a:rPr b="0" lang="en-GB" sz="1200" strike="noStrike" u="none">
                    <a:solidFill>
                      <a:srgbClr val="d0e0e3"/>
                    </a:solidFill>
                    <a:effectLst/>
                    <a:uFillTx/>
                    <a:latin typeface="Roboto"/>
                    <a:ea typeface="Roboto"/>
                  </a:rPr>
                  <a:t>Deliver an interpretable research prototype that transforms repeated MRI observations into a clear, understandable progression trajectory.</a:t>
                </a:r>
                <a:endParaRPr b="0" lang="en-IN" sz="12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35" name="Google Shape;496;p23"/>
          <p:cNvGrpSpPr/>
          <p:nvPr/>
        </p:nvGrpSpPr>
        <p:grpSpPr>
          <a:xfrm>
            <a:off x="380880" y="4438440"/>
            <a:ext cx="8381520" cy="552240"/>
            <a:chOff x="380880" y="4438440"/>
            <a:chExt cx="8381520" cy="552240"/>
          </a:xfrm>
        </p:grpSpPr>
        <p:cxnSp>
          <p:nvCxnSpPr>
            <p:cNvPr id="436" name="Google Shape;497;p23"/>
            <p:cNvCxnSpPr/>
            <p:nvPr/>
          </p:nvCxnSpPr>
          <p:spPr>
            <a:xfrm>
              <a:off x="3619440" y="4438440"/>
              <a:ext cx="1905120" cy="360"/>
            </a:xfrm>
            <a:prstGeom prst="straightConnector1">
              <a:avLst/>
            </a:prstGeom>
            <a:ln w="9525">
              <a:solidFill>
                <a:srgbClr val="3a506b"/>
              </a:solidFill>
              <a:round/>
            </a:ln>
          </p:spPr>
        </p:cxnSp>
        <p:sp>
          <p:nvSpPr>
            <p:cNvPr id="437" name="Google Shape;498;p23"/>
            <p:cNvSpPr/>
            <p:nvPr/>
          </p:nvSpPr>
          <p:spPr>
            <a:xfrm>
              <a:off x="380880" y="4514760"/>
              <a:ext cx="8381520" cy="47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-GB" sz="1660" strike="noStrike" u="none">
                  <a:solidFill>
                    <a:srgbClr val="ffffff"/>
                  </a:solidFill>
                  <a:effectLst/>
                  <a:uFillTx/>
                  <a:latin typeface="Inter"/>
                  <a:ea typeface="Inter"/>
                </a:rPr>
                <a:t>Thank You </a:t>
              </a:r>
              <a:endParaRPr b="0" lang="en-IN" sz="166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-GB" sz="1020" strike="noStrike" u="none">
                  <a:solidFill>
                    <a:srgbClr val="90e0ef"/>
                  </a:solidFill>
                  <a:effectLst/>
                  <a:uFillTx/>
                  <a:latin typeface="Roboto"/>
                  <a:ea typeface="Roboto"/>
                </a:rPr>
                <a:t>NeuroPredict AI — Understanding the Longitudinal Story of the Brain</a:t>
              </a:r>
              <a:endParaRPr b="0" lang="en-IN" sz="102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2026-09-21T22:25:51Z</dcterms:modified>
  <cp:revision>1</cp:revision>
  <dc:subject/>
  <dc:title/>
</cp:coreProperties>
</file>